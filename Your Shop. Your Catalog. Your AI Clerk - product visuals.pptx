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embeddedFontLst>
    <p:embeddedFont>
      <p:font typeface="Libre Baskerville"/>
      <p:regular r:id="rId15"/>
      <p:bold r:id="rId16"/>
      <p:italic r:id="rId17"/>
      <p:boldItalic r:id="rId18"/>
    </p:embeddedFont>
    <p:embeddedFont>
      <p:font typeface="Open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.fntdata"/><Relationship Id="rId11" Type="http://schemas.openxmlformats.org/officeDocument/2006/relationships/slide" Target="slides/slide7.xml"/><Relationship Id="rId22" Type="http://schemas.openxmlformats.org/officeDocument/2006/relationships/font" Target="fonts/OpenSans-boldItalic.fntdata"/><Relationship Id="rId10" Type="http://schemas.openxmlformats.org/officeDocument/2006/relationships/slide" Target="slides/slide6.xml"/><Relationship Id="rId21" Type="http://schemas.openxmlformats.org/officeDocument/2006/relationships/font" Target="fonts/OpenSans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LibreBaskerville-regular.fntdata"/><Relationship Id="rId14" Type="http://schemas.openxmlformats.org/officeDocument/2006/relationships/slide" Target="slides/slide10.xml"/><Relationship Id="rId17" Type="http://schemas.openxmlformats.org/officeDocument/2006/relationships/font" Target="fonts/LibreBaskerville-italic.fntdata"/><Relationship Id="rId16" Type="http://schemas.openxmlformats.org/officeDocument/2006/relationships/font" Target="fonts/LibreBaskerville-bold.fntdata"/><Relationship Id="rId5" Type="http://schemas.openxmlformats.org/officeDocument/2006/relationships/slide" Target="slides/slide1.xml"/><Relationship Id="rId19" Type="http://schemas.openxmlformats.org/officeDocument/2006/relationships/font" Target="fonts/OpenSans-regular.fntdata"/><Relationship Id="rId6" Type="http://schemas.openxmlformats.org/officeDocument/2006/relationships/slide" Target="slides/slide2.xml"/><Relationship Id="rId18" Type="http://schemas.openxmlformats.org/officeDocument/2006/relationships/font" Target="fonts/LibreBaskerville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5.png"/><Relationship Id="rId4" Type="http://schemas.openxmlformats.org/officeDocument/2006/relationships/image" Target="../media/image4.png"/><Relationship Id="rId5" Type="http://schemas.openxmlformats.org/officeDocument/2006/relationships/image" Target="../media/image10.png"/><Relationship Id="rId6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Relationship Id="rId4" Type="http://schemas.openxmlformats.org/officeDocument/2006/relationships/image" Target="../media/image6.png"/><Relationship Id="rId9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19.png"/><Relationship Id="rId7" Type="http://schemas.openxmlformats.org/officeDocument/2006/relationships/image" Target="../media/image31.png"/><Relationship Id="rId8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3.png"/><Relationship Id="rId4" Type="http://schemas.openxmlformats.org/officeDocument/2006/relationships/image" Target="../media/image29.png"/><Relationship Id="rId5" Type="http://schemas.openxmlformats.org/officeDocument/2006/relationships/image" Target="../media/image11.png"/><Relationship Id="rId6" Type="http://schemas.openxmlformats.org/officeDocument/2006/relationships/image" Target="../media/image17.png"/><Relationship Id="rId7" Type="http://schemas.openxmlformats.org/officeDocument/2006/relationships/image" Target="../media/image32.png"/><Relationship Id="rId8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png"/><Relationship Id="rId4" Type="http://schemas.openxmlformats.org/officeDocument/2006/relationships/image" Target="../media/image13.png"/><Relationship Id="rId5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png"/><Relationship Id="rId4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6" name="Google Shape;4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13"/>
          <p:cNvSpPr/>
          <p:nvPr/>
        </p:nvSpPr>
        <p:spPr>
          <a:xfrm>
            <a:off x="496119" y="1464543"/>
            <a:ext cx="4722763" cy="885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2750"/>
              <a:buFont typeface="Libre Baskerville"/>
              <a:buNone/>
            </a:pPr>
            <a:r>
              <a:rPr b="0" i="0" lang="en-US" sz="2750" u="none" cap="none" strike="noStrike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Your Shop. Your Catalog. Your AI Clerk.</a:t>
            </a:r>
            <a:endParaRPr b="0" i="0" sz="2750" u="none" cap="none" strike="noStrike"/>
          </a:p>
        </p:txBody>
      </p:sp>
      <p:sp>
        <p:nvSpPr>
          <p:cNvPr id="48" name="Google Shape;48;p13"/>
          <p:cNvSpPr/>
          <p:nvPr/>
        </p:nvSpPr>
        <p:spPr>
          <a:xfrm>
            <a:off x="496119" y="2563118"/>
            <a:ext cx="4722763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100"/>
              <a:buFont typeface="Open Sans"/>
              <a:buNone/>
            </a:pPr>
            <a:r>
              <a:rPr b="0" i="0" lang="en-US" sz="11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Upgrade your retail store with a WhatsApp AI clerk that answers stock and price queries, reserves pickup orders, and alerts your counter dashboard — automatically.</a:t>
            </a:r>
            <a:endParaRPr b="0" i="0" sz="1100" u="none" cap="none" strike="noStrike"/>
          </a:p>
        </p:txBody>
      </p:sp>
      <p:sp>
        <p:nvSpPr>
          <p:cNvPr id="49" name="Google Shape;49;p13"/>
          <p:cNvSpPr/>
          <p:nvPr/>
        </p:nvSpPr>
        <p:spPr>
          <a:xfrm>
            <a:off x="496119" y="3403029"/>
            <a:ext cx="1718072" cy="275927"/>
          </a:xfrm>
          <a:prstGeom prst="roundRect">
            <a:avLst>
              <a:gd fmla="val 6165" name="adj"/>
            </a:avLst>
          </a:prstGeom>
          <a:noFill/>
          <a:ln cap="flat" cmpd="sng" w="9525">
            <a:solidFill>
              <a:srgbClr val="403C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3"/>
          <p:cNvSpPr/>
          <p:nvPr/>
        </p:nvSpPr>
        <p:spPr>
          <a:xfrm>
            <a:off x="585936" y="3450282"/>
            <a:ext cx="1995636" cy="181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850"/>
              <a:buFont typeface="Open Sans"/>
              <a:buNone/>
            </a:pPr>
            <a:r>
              <a:rPr b="0" i="0" lang="en-US" sz="850" u="none" cap="none" strike="noStrike">
                <a:solidFill>
                  <a:srgbClr val="403CCF"/>
                </a:solidFill>
                <a:latin typeface="Open Sans"/>
                <a:ea typeface="Open Sans"/>
                <a:cs typeface="Open Sans"/>
                <a:sym typeface="Open Sans"/>
              </a:rPr>
              <a:t>SMART-CLERK.SOLVOR.CO.IN</a:t>
            </a:r>
            <a:endParaRPr b="0" i="0" sz="850" u="none" cap="none" strike="noStrike"/>
          </a:p>
        </p:txBody>
      </p:sp>
      <p:sp>
        <p:nvSpPr>
          <p:cNvPr id="51" name="Google Shape;51;p13"/>
          <p:cNvSpPr/>
          <p:nvPr/>
        </p:nvSpPr>
        <p:spPr>
          <a:xfrm>
            <a:off x="2285033" y="3407792"/>
            <a:ext cx="2383557" cy="266402"/>
          </a:xfrm>
          <a:prstGeom prst="roundRect">
            <a:avLst>
              <a:gd fmla="val 6386" name="adj"/>
            </a:avLst>
          </a:prstGeom>
          <a:solidFill>
            <a:srgbClr val="D7D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3"/>
          <p:cNvSpPr/>
          <p:nvPr/>
        </p:nvSpPr>
        <p:spPr>
          <a:xfrm>
            <a:off x="2370088" y="3450282"/>
            <a:ext cx="2670646" cy="181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50"/>
              <a:buFont typeface="Open Sans"/>
              <a:buNone/>
            </a:pPr>
            <a:r>
              <a:rPr b="0" i="0" lang="en-US" sz="85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SMART-CLERK-ENTERPRISE.SOLVOR.CO.IN</a:t>
            </a:r>
            <a:endParaRPr b="0" i="0" sz="8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8" name="Google Shape;5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4"/>
          <p:cNvSpPr/>
          <p:nvPr/>
        </p:nvSpPr>
        <p:spPr>
          <a:xfrm>
            <a:off x="3925119" y="480417"/>
            <a:ext cx="4722763" cy="797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2500"/>
              <a:buFont typeface="Libre Baskerville"/>
              <a:buNone/>
            </a:pPr>
            <a:r>
              <a:rPr b="0" i="0" lang="en-US" sz="2500" u="none" cap="none" strike="noStrike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Busy counters lose WhatsApp sales every day.</a:t>
            </a:r>
            <a:endParaRPr b="0" i="0" sz="2500" u="none" cap="none" strike="noStrike"/>
          </a:p>
        </p:txBody>
      </p:sp>
      <p:sp>
        <p:nvSpPr>
          <p:cNvPr id="60" name="Google Shape;60;p14"/>
          <p:cNvSpPr/>
          <p:nvPr/>
        </p:nvSpPr>
        <p:spPr>
          <a:xfrm>
            <a:off x="3925119" y="1450032"/>
            <a:ext cx="4722763" cy="717128"/>
          </a:xfrm>
          <a:prstGeom prst="roundRect">
            <a:avLst>
              <a:gd fmla="val 2669" name="adj"/>
            </a:avLst>
          </a:prstGeom>
          <a:solidFill>
            <a:srgbClr val="EAE8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/>
          <p:nvPr/>
        </p:nvSpPr>
        <p:spPr>
          <a:xfrm>
            <a:off x="4052664" y="1577578"/>
            <a:ext cx="2222748" cy="199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Libre Baskerville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👋</a:t>
            </a:r>
            <a:r>
              <a:rPr b="0" i="0" lang="en-US" sz="125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Owner is occupied</a:t>
            </a:r>
            <a:endParaRPr b="0" i="0" sz="1250" u="none" cap="none" strike="noStrike"/>
          </a:p>
        </p:txBody>
      </p:sp>
      <p:sp>
        <p:nvSpPr>
          <p:cNvPr id="62" name="Google Shape;62;p14"/>
          <p:cNvSpPr/>
          <p:nvPr/>
        </p:nvSpPr>
        <p:spPr>
          <a:xfrm>
            <a:off x="4052664" y="1845692"/>
            <a:ext cx="4924871" cy="1939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Serving walk-in customers at the counter — no time to check WhatsApp.</a:t>
            </a:r>
            <a:endParaRPr b="0" i="0" sz="1000" u="none" cap="none" strike="noStrike"/>
          </a:p>
        </p:txBody>
      </p:sp>
      <p:sp>
        <p:nvSpPr>
          <p:cNvPr id="63" name="Google Shape;63;p14"/>
          <p:cNvSpPr/>
          <p:nvPr/>
        </p:nvSpPr>
        <p:spPr>
          <a:xfrm>
            <a:off x="3925119" y="2281982"/>
            <a:ext cx="4722763" cy="717128"/>
          </a:xfrm>
          <a:prstGeom prst="roundRect">
            <a:avLst>
              <a:gd fmla="val 2669" name="adj"/>
            </a:avLst>
          </a:prstGeom>
          <a:solidFill>
            <a:srgbClr val="EAE8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4052664" y="2409527"/>
            <a:ext cx="2619003" cy="199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Libre Baskerville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📵</a:t>
            </a:r>
            <a:r>
              <a:rPr b="0" i="0" lang="en-US" sz="125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Queries go unanswered</a:t>
            </a:r>
            <a:endParaRPr b="0" i="0" sz="1250" u="none" cap="none" strike="noStrike"/>
          </a:p>
        </p:txBody>
      </p:sp>
      <p:sp>
        <p:nvSpPr>
          <p:cNvPr id="65" name="Google Shape;65;p14"/>
          <p:cNvSpPr/>
          <p:nvPr/>
        </p:nvSpPr>
        <p:spPr>
          <a:xfrm>
            <a:off x="4052664" y="2677641"/>
            <a:ext cx="4924871" cy="1939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Price and stock messages pile up. Customers wait. Patience runs out.</a:t>
            </a:r>
            <a:endParaRPr b="0" i="0" sz="1000" u="none" cap="none" strike="noStrike"/>
          </a:p>
        </p:txBody>
      </p:sp>
      <p:sp>
        <p:nvSpPr>
          <p:cNvPr id="66" name="Google Shape;66;p14"/>
          <p:cNvSpPr/>
          <p:nvPr/>
        </p:nvSpPr>
        <p:spPr>
          <a:xfrm>
            <a:off x="3925119" y="3113931"/>
            <a:ext cx="4722763" cy="717128"/>
          </a:xfrm>
          <a:prstGeom prst="roundRect">
            <a:avLst>
              <a:gd fmla="val 2669" name="adj"/>
            </a:avLst>
          </a:prstGeom>
          <a:solidFill>
            <a:srgbClr val="EAE8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4"/>
          <p:cNvSpPr/>
          <p:nvPr/>
        </p:nvSpPr>
        <p:spPr>
          <a:xfrm>
            <a:off x="4052664" y="3241477"/>
            <a:ext cx="2326556" cy="199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Libre Baskerville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🏃</a:t>
            </a:r>
            <a:r>
              <a:rPr b="0" i="0" lang="en-US" sz="125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They buy elsewhere</a:t>
            </a:r>
            <a:endParaRPr b="0" i="0" sz="1250" u="none" cap="none" strike="noStrike"/>
          </a:p>
        </p:txBody>
      </p:sp>
      <p:sp>
        <p:nvSpPr>
          <p:cNvPr id="68" name="Google Shape;68;p14"/>
          <p:cNvSpPr/>
          <p:nvPr/>
        </p:nvSpPr>
        <p:spPr>
          <a:xfrm>
            <a:off x="4052664" y="3509590"/>
            <a:ext cx="4924871" cy="1939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Competitors who reply faster win the sale — every single time.</a:t>
            </a:r>
            <a:endParaRPr b="0" i="0" sz="1000" u="none" cap="none" strike="noStrike"/>
          </a:p>
        </p:txBody>
      </p:sp>
      <p:sp>
        <p:nvSpPr>
          <p:cNvPr id="69" name="Google Shape;69;p14"/>
          <p:cNvSpPr/>
          <p:nvPr/>
        </p:nvSpPr>
        <p:spPr>
          <a:xfrm>
            <a:off x="3925119" y="3945880"/>
            <a:ext cx="4722763" cy="717128"/>
          </a:xfrm>
          <a:prstGeom prst="roundRect">
            <a:avLst>
              <a:gd fmla="val 2669" name="adj"/>
            </a:avLst>
          </a:prstGeom>
          <a:solidFill>
            <a:srgbClr val="EAE8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/>
          <p:nvPr/>
        </p:nvSpPr>
        <p:spPr>
          <a:xfrm>
            <a:off x="4052664" y="4073426"/>
            <a:ext cx="2052042" cy="199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Libre Baskerville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📓</a:t>
            </a:r>
            <a:r>
              <a:rPr b="0" i="0" lang="en-US" sz="125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Data is scattered</a:t>
            </a:r>
            <a:endParaRPr b="0" i="0" sz="1250" u="none" cap="none" strike="noStrike"/>
          </a:p>
        </p:txBody>
      </p:sp>
      <p:sp>
        <p:nvSpPr>
          <p:cNvPr id="71" name="Google Shape;71;p14"/>
          <p:cNvSpPr/>
          <p:nvPr/>
        </p:nvSpPr>
        <p:spPr>
          <a:xfrm>
            <a:off x="4052664" y="4341540"/>
            <a:ext cx="4924871" cy="1939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Catalog lives in notebooks, memory, and half-updated Google Sheets.</a:t>
            </a:r>
            <a:endParaRPr b="0" i="0" sz="100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/>
          <p:nvPr/>
        </p:nvSpPr>
        <p:spPr>
          <a:xfrm>
            <a:off x="496119" y="679549"/>
            <a:ext cx="6772275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2750"/>
              <a:buFont typeface="Libre Baskerville"/>
              <a:buNone/>
            </a:pPr>
            <a:r>
              <a:rPr b="0" i="0" lang="en-US" sz="2750" u="none" cap="none" strike="noStrike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One Platform. Three Users Served.</a:t>
            </a:r>
            <a:endParaRPr b="0" i="0" sz="2750" u="none" cap="none" strike="noStrike"/>
          </a:p>
        </p:txBody>
      </p:sp>
      <p:sp>
        <p:nvSpPr>
          <p:cNvPr id="78" name="Google Shape;78;p15"/>
          <p:cNvSpPr/>
          <p:nvPr/>
        </p:nvSpPr>
        <p:spPr>
          <a:xfrm>
            <a:off x="496119" y="1406054"/>
            <a:ext cx="860896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100"/>
              <a:buFont typeface="Open Sans"/>
              <a:buNone/>
            </a:pPr>
            <a:r>
              <a:rPr b="0" i="0" lang="en-US" sz="11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Smart Clerk connects your customers, your counter, and your staff — all through a single AI-powered system.</a:t>
            </a:r>
            <a:endParaRPr b="0" i="0" sz="1100" u="none" cap="none" strike="noStrike"/>
          </a:p>
        </p:txBody>
      </p:sp>
      <p:pic>
        <p:nvPicPr>
          <p:cNvPr descr="preencoded.png" id="79" name="Google Shape;7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792337"/>
            <a:ext cx="1507480" cy="150748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/>
          <p:nvPr/>
        </p:nvSpPr>
        <p:spPr>
          <a:xfrm>
            <a:off x="496119" y="3476997"/>
            <a:ext cx="22292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350"/>
              <a:buFont typeface="Libre Baskerville"/>
              <a:buNone/>
            </a:pPr>
            <a:r>
              <a:rPr b="0" i="0" lang="en-US" sz="135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Customers</a:t>
            </a:r>
            <a:endParaRPr b="0" i="0" sz="1350" u="none" cap="none" strike="noStrike"/>
          </a:p>
        </p:txBody>
      </p:sp>
      <p:sp>
        <p:nvSpPr>
          <p:cNvPr id="81" name="Google Shape;81;p15"/>
          <p:cNvSpPr/>
          <p:nvPr/>
        </p:nvSpPr>
        <p:spPr>
          <a:xfrm>
            <a:off x="496119" y="3783509"/>
            <a:ext cx="2599134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100"/>
              <a:buFont typeface="Open Sans"/>
              <a:buNone/>
            </a:pPr>
            <a:r>
              <a:rPr b="0" i="0" lang="en-US" sz="11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Ask on WhatsApp, get </a:t>
            </a:r>
            <a:r>
              <a:rPr b="1" i="0" lang="en-US" sz="11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instant stock and price replies</a:t>
            </a:r>
            <a:r>
              <a:rPr b="0" i="0" lang="en-US" sz="11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— no waiting, no calling.</a:t>
            </a:r>
            <a:endParaRPr b="0" i="0" sz="1100" u="none" cap="none" strike="noStrike"/>
          </a:p>
        </p:txBody>
      </p:sp>
      <p:pic>
        <p:nvPicPr>
          <p:cNvPr descr="preencoded.png" id="82" name="Google Shape;8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72433" y="1792337"/>
            <a:ext cx="1507480" cy="150748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5"/>
          <p:cNvSpPr/>
          <p:nvPr/>
        </p:nvSpPr>
        <p:spPr>
          <a:xfrm>
            <a:off x="3272433" y="3476997"/>
            <a:ext cx="22292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350"/>
              <a:buFont typeface="Libre Baskerville"/>
              <a:buNone/>
            </a:pPr>
            <a:r>
              <a:rPr b="0" i="0" lang="en-US" sz="135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Shop Owner</a:t>
            </a:r>
            <a:endParaRPr b="0" i="0" sz="1350" u="none" cap="none" strike="noStrike"/>
          </a:p>
        </p:txBody>
      </p:sp>
      <p:sp>
        <p:nvSpPr>
          <p:cNvPr id="84" name="Google Shape;84;p15"/>
          <p:cNvSpPr/>
          <p:nvPr/>
        </p:nvSpPr>
        <p:spPr>
          <a:xfrm>
            <a:off x="3272433" y="3783509"/>
            <a:ext cx="2599134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100"/>
              <a:buFont typeface="Open Sans"/>
              <a:buNone/>
            </a:pPr>
            <a:r>
              <a:rPr b="0" i="0" lang="en-US" sz="11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Watch orders, stock levels, and AI conversations </a:t>
            </a:r>
            <a:r>
              <a:rPr b="1" i="0" lang="en-US" sz="11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live from your dashboard.</a:t>
            </a:r>
            <a:endParaRPr b="0" i="0" sz="1100" u="none" cap="none" strike="noStrike"/>
          </a:p>
        </p:txBody>
      </p:sp>
      <p:pic>
        <p:nvPicPr>
          <p:cNvPr descr="preencoded.png" id="85" name="Google Shape;8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48747" y="1792337"/>
            <a:ext cx="1507480" cy="150748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/>
          <p:nvPr/>
        </p:nvSpPr>
        <p:spPr>
          <a:xfrm>
            <a:off x="6048747" y="3476997"/>
            <a:ext cx="22292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350"/>
              <a:buFont typeface="Libre Baskerville"/>
              <a:buNone/>
            </a:pPr>
            <a:r>
              <a:rPr b="0" i="0" lang="en-US" sz="135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Staff</a:t>
            </a:r>
            <a:endParaRPr b="0" i="0" sz="1350" u="none" cap="none" strike="noStrike"/>
          </a:p>
        </p:txBody>
      </p:sp>
      <p:sp>
        <p:nvSpPr>
          <p:cNvPr id="87" name="Google Shape;87;p15"/>
          <p:cNvSpPr/>
          <p:nvPr/>
        </p:nvSpPr>
        <p:spPr>
          <a:xfrm>
            <a:off x="6048747" y="3783509"/>
            <a:ext cx="2599134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100"/>
              <a:buFont typeface="Open Sans"/>
              <a:buNone/>
            </a:pPr>
            <a:r>
              <a:rPr b="0" i="0" lang="en-US" sz="11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Receive clear </a:t>
            </a:r>
            <a:r>
              <a:rPr b="1" i="0" lang="en-US" sz="11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"Pack This Item"</a:t>
            </a:r>
            <a:r>
              <a:rPr b="0" i="0" lang="en-US" sz="11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order cards — no confusion, no missed orders.</a:t>
            </a:r>
            <a:endParaRPr b="0" i="0" sz="110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3" name="Google Shape;9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465064"/>
            <a:ext cx="3905845" cy="2213297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6"/>
          <p:cNvSpPr/>
          <p:nvPr/>
        </p:nvSpPr>
        <p:spPr>
          <a:xfrm>
            <a:off x="5968082" y="724346"/>
            <a:ext cx="1071265" cy="182761"/>
          </a:xfrm>
          <a:prstGeom prst="roundRect">
            <a:avLst>
              <a:gd fmla="val 6981" name="adj"/>
            </a:avLst>
          </a:prstGeom>
          <a:solidFill>
            <a:srgbClr val="D7D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5" name="Google Shape;9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31855" y="773162"/>
            <a:ext cx="85055" cy="8505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/>
          <p:nvPr/>
        </p:nvSpPr>
        <p:spPr>
          <a:xfrm>
            <a:off x="6159401" y="756196"/>
            <a:ext cx="1273373" cy="1190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650"/>
              <a:buFont typeface="Open Sans"/>
              <a:buNone/>
            </a:pPr>
            <a:r>
              <a:rPr b="0" i="0" lang="en-US" sz="65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WHATSAPP AI CLERK</a:t>
            </a:r>
            <a:endParaRPr b="0" i="0" sz="650" u="none" cap="none" strike="noStrike"/>
          </a:p>
        </p:txBody>
      </p:sp>
      <p:sp>
        <p:nvSpPr>
          <p:cNvPr id="97" name="Google Shape;97;p16"/>
          <p:cNvSpPr/>
          <p:nvPr/>
        </p:nvSpPr>
        <p:spPr>
          <a:xfrm>
            <a:off x="5968082" y="938957"/>
            <a:ext cx="2684487" cy="996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2050"/>
              <a:buFont typeface="Libre Baskerville"/>
              <a:buNone/>
            </a:pPr>
            <a:r>
              <a:rPr b="0" i="0" lang="en-US" sz="2050" u="none" cap="none" strike="noStrike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The AI clerk replies while the owner stays at the counter.</a:t>
            </a:r>
            <a:endParaRPr b="0" i="0" sz="2050" u="none" cap="none" strike="noStrike"/>
          </a:p>
        </p:txBody>
      </p:sp>
      <p:pic>
        <p:nvPicPr>
          <p:cNvPr descr="preencoded.png" id="98" name="Google Shape;9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07894" y="2030685"/>
            <a:ext cx="159469" cy="159469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6"/>
          <p:cNvSpPr/>
          <p:nvPr/>
        </p:nvSpPr>
        <p:spPr>
          <a:xfrm>
            <a:off x="6313512" y="2025402"/>
            <a:ext cx="2339057" cy="297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00"/>
              <a:buFont typeface="Open Sans"/>
              <a:buNone/>
            </a:pPr>
            <a:r>
              <a:rPr b="0" i="0" lang="en-US" sz="8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Customer asks: </a:t>
            </a:r>
            <a:r>
              <a:rPr b="1" i="1" lang="en-US" sz="8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"Bhaiya Nivia tennis ball hai kya?"</a:t>
            </a:r>
            <a:endParaRPr b="0" i="0" sz="800" u="none" cap="none" strike="noStrike"/>
          </a:p>
        </p:txBody>
      </p:sp>
      <p:pic>
        <p:nvPicPr>
          <p:cNvPr descr="preencoded.png" id="100" name="Google Shape;10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07894" y="2514377"/>
            <a:ext cx="159469" cy="159469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6"/>
          <p:cNvSpPr/>
          <p:nvPr/>
        </p:nvSpPr>
        <p:spPr>
          <a:xfrm>
            <a:off x="6313512" y="2509093"/>
            <a:ext cx="2339057" cy="297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00"/>
              <a:buFont typeface="Open Sans"/>
              <a:buNone/>
            </a:pPr>
            <a:r>
              <a:rPr b="0" i="0" lang="en-US" sz="8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AI instantly </a:t>
            </a:r>
            <a:r>
              <a:rPr b="1" i="0" lang="en-US" sz="8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checks your catalog cache</a:t>
            </a:r>
            <a:r>
              <a:rPr b="0" i="0" lang="en-US" sz="8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for stock and price.</a:t>
            </a:r>
            <a:endParaRPr b="0" i="0" sz="800" u="none" cap="none" strike="noStrike"/>
          </a:p>
        </p:txBody>
      </p:sp>
      <p:pic>
        <p:nvPicPr>
          <p:cNvPr descr="preencoded.png" id="102" name="Google Shape;10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07894" y="2998068"/>
            <a:ext cx="159469" cy="159469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6"/>
          <p:cNvSpPr/>
          <p:nvPr/>
        </p:nvSpPr>
        <p:spPr>
          <a:xfrm>
            <a:off x="6313512" y="2992785"/>
            <a:ext cx="2339057" cy="297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00"/>
              <a:buFont typeface="Open Sans"/>
              <a:buNone/>
            </a:pPr>
            <a:r>
              <a:rPr b="0" i="0" lang="en-US" sz="8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Replies in </a:t>
            </a:r>
            <a:r>
              <a:rPr b="1" i="0" lang="en-US" sz="8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Hinglish</a:t>
            </a:r>
            <a:r>
              <a:rPr b="0" i="0" lang="en-US" sz="8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with availability and price details.</a:t>
            </a:r>
            <a:endParaRPr b="0" i="0" sz="800" u="none" cap="none" strike="noStrike"/>
          </a:p>
        </p:txBody>
      </p:sp>
      <p:pic>
        <p:nvPicPr>
          <p:cNvPr descr="preencoded.png" id="104" name="Google Shape;10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07894" y="3481760"/>
            <a:ext cx="159469" cy="159469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6"/>
          <p:cNvSpPr/>
          <p:nvPr/>
        </p:nvSpPr>
        <p:spPr>
          <a:xfrm>
            <a:off x="6313512" y="3476476"/>
            <a:ext cx="2339057" cy="297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00"/>
              <a:buFont typeface="Open Sans"/>
              <a:buNone/>
            </a:pPr>
            <a:r>
              <a:rPr b="0" i="0" lang="en-US" sz="8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Asks: </a:t>
            </a:r>
            <a:r>
              <a:rPr b="1" i="0" lang="en-US" sz="8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"Kitne pieces chahiye?"</a:t>
            </a:r>
            <a:r>
              <a:rPr b="0" i="0" lang="en-US" sz="8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— confirms quantity before reserving.</a:t>
            </a:r>
            <a:endParaRPr b="0" i="0" sz="800" u="none" cap="none" strike="noStrike"/>
          </a:p>
        </p:txBody>
      </p:sp>
      <p:sp>
        <p:nvSpPr>
          <p:cNvPr id="106" name="Google Shape;106;p16"/>
          <p:cNvSpPr/>
          <p:nvPr/>
        </p:nvSpPr>
        <p:spPr>
          <a:xfrm>
            <a:off x="5968082" y="3890367"/>
            <a:ext cx="2684487" cy="528786"/>
          </a:xfrm>
          <a:prstGeom prst="roundRect">
            <a:avLst>
              <a:gd fmla="val 3016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7" name="Google Shape;10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74346" y="4044479"/>
            <a:ext cx="132904" cy="106263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6"/>
          <p:cNvSpPr/>
          <p:nvPr/>
        </p:nvSpPr>
        <p:spPr>
          <a:xfrm>
            <a:off x="6313512" y="3996630"/>
            <a:ext cx="2232794" cy="297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pen Sans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Owner can pause AI or take over any conversation anytime.</a:t>
            </a:r>
            <a:endParaRPr b="0" i="0" sz="80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/>
          <p:nvPr/>
        </p:nvSpPr>
        <p:spPr>
          <a:xfrm>
            <a:off x="496119" y="722188"/>
            <a:ext cx="8151763" cy="6645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2050"/>
              <a:buFont typeface="Libre Baskerville"/>
              <a:buNone/>
            </a:pPr>
            <a:r>
              <a:rPr b="0" i="0" lang="en-US" sz="2050" u="none" cap="none" strike="noStrike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Catalog Management That Shop Owners Already Understand.</a:t>
            </a:r>
            <a:endParaRPr b="0" i="0" sz="2050" u="none" cap="none" strike="noStrike"/>
          </a:p>
        </p:txBody>
      </p:sp>
      <p:sp>
        <p:nvSpPr>
          <p:cNvPr id="115" name="Google Shape;115;p17"/>
          <p:cNvSpPr/>
          <p:nvPr/>
        </p:nvSpPr>
        <p:spPr>
          <a:xfrm>
            <a:off x="496119" y="1578025"/>
            <a:ext cx="3946178" cy="4464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00"/>
              <a:buFont typeface="Open Sans"/>
              <a:buNone/>
            </a:pPr>
            <a:r>
              <a:rPr b="0" i="0" lang="en-US" sz="8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No new software to learn. </a:t>
            </a:r>
            <a:r>
              <a:rPr b="1" i="0" lang="en-US" sz="8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Google Sheets stays your source of truth.</a:t>
            </a:r>
            <a:r>
              <a:rPr b="0" i="0" lang="en-US" sz="8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Smart Clerk syncs with it and gives your team a clean dashboard to manage everything in one place.</a:t>
            </a:r>
            <a:endParaRPr b="0" i="0" sz="800" u="none" cap="none" strike="noStrike"/>
          </a:p>
        </p:txBody>
      </p:sp>
      <p:sp>
        <p:nvSpPr>
          <p:cNvPr id="116" name="Google Shape;116;p17"/>
          <p:cNvSpPr/>
          <p:nvPr/>
        </p:nvSpPr>
        <p:spPr>
          <a:xfrm>
            <a:off x="4706466" y="1595958"/>
            <a:ext cx="3946178" cy="2042220"/>
          </a:xfrm>
          <a:prstGeom prst="roundRect">
            <a:avLst>
              <a:gd fmla="val 781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7"/>
          <p:cNvSpPr/>
          <p:nvPr/>
        </p:nvSpPr>
        <p:spPr>
          <a:xfrm>
            <a:off x="4817641" y="1653257"/>
            <a:ext cx="1620069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00"/>
              <a:buFont typeface="Open Sans"/>
              <a:buNone/>
            </a:pPr>
            <a:r>
              <a:rPr b="1" i="0" lang="en-US" sz="8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Item Name</a:t>
            </a:r>
            <a:endParaRPr b="0" i="0" sz="800" u="none" cap="none" strike="noStrike"/>
          </a:p>
        </p:txBody>
      </p:sp>
      <p:sp>
        <p:nvSpPr>
          <p:cNvPr id="118" name="Google Shape;118;p17"/>
          <p:cNvSpPr/>
          <p:nvPr/>
        </p:nvSpPr>
        <p:spPr>
          <a:xfrm>
            <a:off x="6197798" y="1653257"/>
            <a:ext cx="1027212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00"/>
              <a:buFont typeface="Open Sans"/>
              <a:buNone/>
            </a:pPr>
            <a:r>
              <a:rPr b="1" i="0" lang="en-US" sz="8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Category</a:t>
            </a:r>
            <a:endParaRPr b="0" i="0" sz="800" u="none" cap="none" strike="noStrike"/>
          </a:p>
        </p:txBody>
      </p:sp>
      <p:sp>
        <p:nvSpPr>
          <p:cNvPr id="119" name="Google Shape;119;p17"/>
          <p:cNvSpPr/>
          <p:nvPr/>
        </p:nvSpPr>
        <p:spPr>
          <a:xfrm>
            <a:off x="6985099" y="1653257"/>
            <a:ext cx="830387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00"/>
              <a:buFont typeface="Open Sans"/>
              <a:buNone/>
            </a:pPr>
            <a:r>
              <a:rPr b="1" i="0" lang="en-US" sz="8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Price</a:t>
            </a:r>
            <a:endParaRPr b="0" i="0" sz="800" u="none" cap="none" strike="noStrike"/>
          </a:p>
        </p:txBody>
      </p:sp>
      <p:sp>
        <p:nvSpPr>
          <p:cNvPr id="120" name="Google Shape;120;p17"/>
          <p:cNvSpPr/>
          <p:nvPr/>
        </p:nvSpPr>
        <p:spPr>
          <a:xfrm>
            <a:off x="7575575" y="1653257"/>
            <a:ext cx="830387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00"/>
              <a:buFont typeface="Open Sans"/>
              <a:buNone/>
            </a:pPr>
            <a:r>
              <a:rPr b="1" i="0" lang="en-US" sz="8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Stock</a:t>
            </a:r>
            <a:endParaRPr b="0" i="0" sz="800" u="none" cap="none" strike="noStrike"/>
          </a:p>
        </p:txBody>
      </p:sp>
      <p:sp>
        <p:nvSpPr>
          <p:cNvPr id="121" name="Google Shape;121;p17"/>
          <p:cNvSpPr/>
          <p:nvPr/>
        </p:nvSpPr>
        <p:spPr>
          <a:xfrm>
            <a:off x="8166050" y="1653257"/>
            <a:ext cx="832768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00"/>
              <a:buFont typeface="Open Sans"/>
              <a:buNone/>
            </a:pPr>
            <a:r>
              <a:rPr b="1" i="0" lang="en-US" sz="8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Aliases</a:t>
            </a:r>
            <a:endParaRPr b="0" i="0" sz="800" u="none" cap="none" strike="noStrike"/>
          </a:p>
        </p:txBody>
      </p:sp>
      <p:sp>
        <p:nvSpPr>
          <p:cNvPr id="122" name="Google Shape;122;p17"/>
          <p:cNvSpPr/>
          <p:nvPr/>
        </p:nvSpPr>
        <p:spPr>
          <a:xfrm>
            <a:off x="4817641" y="1911921"/>
            <a:ext cx="1620069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00"/>
              <a:buFont typeface="Open Sans"/>
              <a:buNone/>
            </a:pPr>
            <a:r>
              <a:rPr b="0" i="0" lang="en-US" sz="8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Nivia Tennis Ball</a:t>
            </a:r>
            <a:endParaRPr b="0" i="0" sz="800" u="none" cap="none" strike="noStrike"/>
          </a:p>
        </p:txBody>
      </p:sp>
      <p:sp>
        <p:nvSpPr>
          <p:cNvPr id="123" name="Google Shape;123;p17"/>
          <p:cNvSpPr/>
          <p:nvPr/>
        </p:nvSpPr>
        <p:spPr>
          <a:xfrm>
            <a:off x="6197798" y="1911921"/>
            <a:ext cx="1027212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00"/>
              <a:buFont typeface="Open Sans"/>
              <a:buNone/>
            </a:pPr>
            <a:r>
              <a:rPr b="0" i="0" lang="en-US" sz="8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Cricket</a:t>
            </a:r>
            <a:endParaRPr b="0" i="0" sz="800" u="none" cap="none" strike="noStrike"/>
          </a:p>
        </p:txBody>
      </p:sp>
      <p:sp>
        <p:nvSpPr>
          <p:cNvPr id="124" name="Google Shape;124;p17"/>
          <p:cNvSpPr/>
          <p:nvPr/>
        </p:nvSpPr>
        <p:spPr>
          <a:xfrm>
            <a:off x="6985099" y="1911921"/>
            <a:ext cx="830387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00"/>
              <a:buFont typeface="Open Sans"/>
              <a:buNone/>
            </a:pPr>
            <a:r>
              <a:rPr b="0" i="0" lang="en-US" sz="8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₹120</a:t>
            </a:r>
            <a:endParaRPr b="0" i="0" sz="800" u="none" cap="none" strike="noStrike"/>
          </a:p>
        </p:txBody>
      </p:sp>
      <p:sp>
        <p:nvSpPr>
          <p:cNvPr id="125" name="Google Shape;125;p17"/>
          <p:cNvSpPr/>
          <p:nvPr/>
        </p:nvSpPr>
        <p:spPr>
          <a:xfrm>
            <a:off x="7575575" y="1911921"/>
            <a:ext cx="830387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00"/>
              <a:buFont typeface="Open Sans"/>
              <a:buNone/>
            </a:pPr>
            <a:r>
              <a:rPr b="0" i="0" lang="en-US" sz="8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24</a:t>
            </a:r>
            <a:endParaRPr b="0" i="0" sz="800" u="none" cap="none" strike="noStrike"/>
          </a:p>
        </p:txBody>
      </p:sp>
      <p:sp>
        <p:nvSpPr>
          <p:cNvPr id="126" name="Google Shape;126;p17"/>
          <p:cNvSpPr/>
          <p:nvPr/>
        </p:nvSpPr>
        <p:spPr>
          <a:xfrm>
            <a:off x="8166050" y="1911921"/>
            <a:ext cx="375568" cy="4464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00"/>
              <a:buFont typeface="Open Sans"/>
              <a:buNone/>
            </a:pPr>
            <a:r>
              <a:rPr b="0" i="0" lang="en-US" sz="8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tennis ball, nivia</a:t>
            </a:r>
            <a:endParaRPr b="0" i="0" sz="800" u="none" cap="none" strike="noStrike"/>
          </a:p>
        </p:txBody>
      </p:sp>
      <p:sp>
        <p:nvSpPr>
          <p:cNvPr id="127" name="Google Shape;127;p17"/>
          <p:cNvSpPr/>
          <p:nvPr/>
        </p:nvSpPr>
        <p:spPr>
          <a:xfrm>
            <a:off x="4817641" y="2468240"/>
            <a:ext cx="1620069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00"/>
              <a:buFont typeface="Open Sans"/>
              <a:buNone/>
            </a:pPr>
            <a:r>
              <a:rPr b="0" i="0" lang="en-US" sz="8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SG Cricket Bat</a:t>
            </a:r>
            <a:endParaRPr b="0" i="0" sz="800" u="none" cap="none" strike="noStrike"/>
          </a:p>
        </p:txBody>
      </p:sp>
      <p:sp>
        <p:nvSpPr>
          <p:cNvPr id="128" name="Google Shape;128;p17"/>
          <p:cNvSpPr/>
          <p:nvPr/>
        </p:nvSpPr>
        <p:spPr>
          <a:xfrm>
            <a:off x="6197798" y="2468240"/>
            <a:ext cx="1027212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00"/>
              <a:buFont typeface="Open Sans"/>
              <a:buNone/>
            </a:pPr>
            <a:r>
              <a:rPr b="0" i="0" lang="en-US" sz="8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Cricket</a:t>
            </a:r>
            <a:endParaRPr b="0" i="0" sz="800" u="none" cap="none" strike="noStrike"/>
          </a:p>
        </p:txBody>
      </p:sp>
      <p:sp>
        <p:nvSpPr>
          <p:cNvPr id="129" name="Google Shape;129;p17"/>
          <p:cNvSpPr/>
          <p:nvPr/>
        </p:nvSpPr>
        <p:spPr>
          <a:xfrm>
            <a:off x="6985099" y="2468240"/>
            <a:ext cx="830387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00"/>
              <a:buFont typeface="Open Sans"/>
              <a:buNone/>
            </a:pPr>
            <a:r>
              <a:rPr b="0" i="0" lang="en-US" sz="8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₹1,800</a:t>
            </a:r>
            <a:endParaRPr b="0" i="0" sz="800" u="none" cap="none" strike="noStrike"/>
          </a:p>
        </p:txBody>
      </p:sp>
      <p:sp>
        <p:nvSpPr>
          <p:cNvPr id="130" name="Google Shape;130;p17"/>
          <p:cNvSpPr/>
          <p:nvPr/>
        </p:nvSpPr>
        <p:spPr>
          <a:xfrm>
            <a:off x="7575575" y="2468240"/>
            <a:ext cx="830387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00"/>
              <a:buFont typeface="Open Sans"/>
              <a:buNone/>
            </a:pPr>
            <a:r>
              <a:rPr b="0" i="0" lang="en-US" sz="8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 b="0" i="0" sz="800" u="none" cap="none" strike="noStrike"/>
          </a:p>
        </p:txBody>
      </p:sp>
      <p:sp>
        <p:nvSpPr>
          <p:cNvPr id="131" name="Google Shape;131;p17"/>
          <p:cNvSpPr/>
          <p:nvPr/>
        </p:nvSpPr>
        <p:spPr>
          <a:xfrm>
            <a:off x="8166050" y="2468240"/>
            <a:ext cx="375568" cy="297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00"/>
              <a:buFont typeface="Open Sans"/>
              <a:buNone/>
            </a:pPr>
            <a:r>
              <a:rPr b="0" i="0" lang="en-US" sz="8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sg bat, bat</a:t>
            </a:r>
            <a:endParaRPr b="0" i="0" sz="800" u="none" cap="none" strike="noStrike"/>
          </a:p>
        </p:txBody>
      </p:sp>
      <p:sp>
        <p:nvSpPr>
          <p:cNvPr id="132" name="Google Shape;132;p17"/>
          <p:cNvSpPr/>
          <p:nvPr/>
        </p:nvSpPr>
        <p:spPr>
          <a:xfrm>
            <a:off x="4817641" y="2875731"/>
            <a:ext cx="1620069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00"/>
              <a:buFont typeface="Open Sans"/>
              <a:buNone/>
            </a:pPr>
            <a:r>
              <a:rPr b="0" i="0" lang="en-US" sz="8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Cosco Football</a:t>
            </a:r>
            <a:endParaRPr b="0" i="0" sz="800" u="none" cap="none" strike="noStrike"/>
          </a:p>
        </p:txBody>
      </p:sp>
      <p:sp>
        <p:nvSpPr>
          <p:cNvPr id="133" name="Google Shape;133;p17"/>
          <p:cNvSpPr/>
          <p:nvPr/>
        </p:nvSpPr>
        <p:spPr>
          <a:xfrm>
            <a:off x="6197798" y="2875731"/>
            <a:ext cx="1027212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00"/>
              <a:buFont typeface="Open Sans"/>
              <a:buNone/>
            </a:pPr>
            <a:r>
              <a:rPr b="0" i="0" lang="en-US" sz="8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Football</a:t>
            </a:r>
            <a:endParaRPr b="0" i="0" sz="800" u="none" cap="none" strike="noStrike"/>
          </a:p>
        </p:txBody>
      </p:sp>
      <p:sp>
        <p:nvSpPr>
          <p:cNvPr id="134" name="Google Shape;134;p17"/>
          <p:cNvSpPr/>
          <p:nvPr/>
        </p:nvSpPr>
        <p:spPr>
          <a:xfrm>
            <a:off x="6985099" y="2875731"/>
            <a:ext cx="830387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00"/>
              <a:buFont typeface="Open Sans"/>
              <a:buNone/>
            </a:pPr>
            <a:r>
              <a:rPr b="0" i="0" lang="en-US" sz="8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₹650</a:t>
            </a:r>
            <a:endParaRPr b="0" i="0" sz="800" u="none" cap="none" strike="noStrike"/>
          </a:p>
        </p:txBody>
      </p:sp>
      <p:sp>
        <p:nvSpPr>
          <p:cNvPr id="135" name="Google Shape;135;p17"/>
          <p:cNvSpPr/>
          <p:nvPr/>
        </p:nvSpPr>
        <p:spPr>
          <a:xfrm>
            <a:off x="7575575" y="2875731"/>
            <a:ext cx="830387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00"/>
              <a:buFont typeface="Open Sans"/>
              <a:buNone/>
            </a:pPr>
            <a:r>
              <a:rPr b="0" i="0" lang="en-US" sz="8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11</a:t>
            </a:r>
            <a:endParaRPr b="0" i="0" sz="800" u="none" cap="none" strike="noStrike"/>
          </a:p>
        </p:txBody>
      </p:sp>
      <p:sp>
        <p:nvSpPr>
          <p:cNvPr id="136" name="Google Shape;136;p17"/>
          <p:cNvSpPr/>
          <p:nvPr/>
        </p:nvSpPr>
        <p:spPr>
          <a:xfrm>
            <a:off x="8166050" y="2875731"/>
            <a:ext cx="375568" cy="297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00"/>
              <a:buFont typeface="Open Sans"/>
              <a:buNone/>
            </a:pPr>
            <a:r>
              <a:rPr b="0" i="0" lang="en-US" sz="8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football, cosco</a:t>
            </a:r>
            <a:endParaRPr b="0" i="0" sz="800" u="none" cap="none" strike="noStrike"/>
          </a:p>
        </p:txBody>
      </p:sp>
      <p:sp>
        <p:nvSpPr>
          <p:cNvPr id="137" name="Google Shape;137;p17"/>
          <p:cNvSpPr/>
          <p:nvPr/>
        </p:nvSpPr>
        <p:spPr>
          <a:xfrm>
            <a:off x="4817641" y="3283223"/>
            <a:ext cx="1620069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00"/>
              <a:buFont typeface="Open Sans"/>
              <a:buNone/>
            </a:pPr>
            <a:r>
              <a:rPr b="0" i="0" lang="en-US" sz="8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Yonex Shuttlecock</a:t>
            </a:r>
            <a:endParaRPr b="0" i="0" sz="800" u="none" cap="none" strike="noStrike"/>
          </a:p>
        </p:txBody>
      </p:sp>
      <p:sp>
        <p:nvSpPr>
          <p:cNvPr id="138" name="Google Shape;138;p17"/>
          <p:cNvSpPr/>
          <p:nvPr/>
        </p:nvSpPr>
        <p:spPr>
          <a:xfrm>
            <a:off x="6197798" y="3283223"/>
            <a:ext cx="1027212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00"/>
              <a:buFont typeface="Open Sans"/>
              <a:buNone/>
            </a:pPr>
            <a:r>
              <a:rPr b="0" i="0" lang="en-US" sz="8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Badminton</a:t>
            </a:r>
            <a:endParaRPr b="0" i="0" sz="800" u="none" cap="none" strike="noStrike"/>
          </a:p>
        </p:txBody>
      </p:sp>
      <p:sp>
        <p:nvSpPr>
          <p:cNvPr id="139" name="Google Shape;139;p17"/>
          <p:cNvSpPr/>
          <p:nvPr/>
        </p:nvSpPr>
        <p:spPr>
          <a:xfrm>
            <a:off x="6985099" y="3283223"/>
            <a:ext cx="830387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00"/>
              <a:buFont typeface="Open Sans"/>
              <a:buNone/>
            </a:pPr>
            <a:r>
              <a:rPr b="0" i="0" lang="en-US" sz="8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₹220</a:t>
            </a:r>
            <a:endParaRPr b="0" i="0" sz="800" u="none" cap="none" strike="noStrike"/>
          </a:p>
        </p:txBody>
      </p:sp>
      <p:sp>
        <p:nvSpPr>
          <p:cNvPr id="140" name="Google Shape;140;p17"/>
          <p:cNvSpPr/>
          <p:nvPr/>
        </p:nvSpPr>
        <p:spPr>
          <a:xfrm>
            <a:off x="7575575" y="3283223"/>
            <a:ext cx="830387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00"/>
              <a:buFont typeface="Open Sans"/>
              <a:buNone/>
            </a:pPr>
            <a:r>
              <a:rPr b="0" i="0" lang="en-US" sz="8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30</a:t>
            </a:r>
            <a:endParaRPr b="0" i="0" sz="800" u="none" cap="none" strike="noStrike"/>
          </a:p>
        </p:txBody>
      </p:sp>
      <p:sp>
        <p:nvSpPr>
          <p:cNvPr id="141" name="Google Shape;141;p17"/>
          <p:cNvSpPr/>
          <p:nvPr/>
        </p:nvSpPr>
        <p:spPr>
          <a:xfrm>
            <a:off x="8166050" y="3283223"/>
            <a:ext cx="375568" cy="297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00"/>
              <a:buFont typeface="Open Sans"/>
              <a:buNone/>
            </a:pPr>
            <a:r>
              <a:rPr b="0" i="0" lang="en-US" sz="8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shuttle, yonex</a:t>
            </a:r>
            <a:endParaRPr b="0" i="0" sz="800" u="none" cap="none" strike="noStrike"/>
          </a:p>
        </p:txBody>
      </p:sp>
      <p:sp>
        <p:nvSpPr>
          <p:cNvPr id="142" name="Google Shape;142;p17"/>
          <p:cNvSpPr/>
          <p:nvPr/>
        </p:nvSpPr>
        <p:spPr>
          <a:xfrm>
            <a:off x="496119" y="3817516"/>
            <a:ext cx="2664098" cy="603796"/>
          </a:xfrm>
          <a:prstGeom prst="roundRect">
            <a:avLst>
              <a:gd fmla="val 2641" name="adj"/>
            </a:avLst>
          </a:prstGeom>
          <a:solidFill>
            <a:srgbClr val="FBFAFF"/>
          </a:solidFill>
          <a:ln cap="flat" cmpd="sng" w="1427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616669" y="3938067"/>
            <a:ext cx="1808187" cy="166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Libre Baskerville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📋</a:t>
            </a:r>
            <a:r>
              <a:rPr b="0" i="0" lang="en-US" sz="100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Dashboard Table</a:t>
            </a:r>
            <a:endParaRPr b="0" i="0" sz="1000" u="none" cap="none" strike="noStrike"/>
          </a:p>
        </p:txBody>
      </p:sp>
      <p:sp>
        <p:nvSpPr>
          <p:cNvPr id="144" name="Google Shape;144;p17"/>
          <p:cNvSpPr/>
          <p:nvPr/>
        </p:nvSpPr>
        <p:spPr>
          <a:xfrm>
            <a:off x="616669" y="4151933"/>
            <a:ext cx="2880196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00"/>
              <a:buFont typeface="Open Sans"/>
              <a:buNone/>
            </a:pPr>
            <a:r>
              <a:rPr b="0" i="0" lang="en-US" sz="8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Edit items, prices, and stock directly in-app.</a:t>
            </a:r>
            <a:endParaRPr b="0" i="0" sz="800" u="none" cap="none" strike="noStrike"/>
          </a:p>
        </p:txBody>
      </p:sp>
      <p:sp>
        <p:nvSpPr>
          <p:cNvPr id="145" name="Google Shape;145;p17"/>
          <p:cNvSpPr/>
          <p:nvPr/>
        </p:nvSpPr>
        <p:spPr>
          <a:xfrm>
            <a:off x="3239914" y="3817516"/>
            <a:ext cx="2664098" cy="603796"/>
          </a:xfrm>
          <a:prstGeom prst="roundRect">
            <a:avLst>
              <a:gd fmla="val 2641" name="adj"/>
            </a:avLst>
          </a:prstGeom>
          <a:solidFill>
            <a:srgbClr val="FBFAFF"/>
          </a:solidFill>
          <a:ln cap="flat" cmpd="sng" w="1427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3360465" y="3938067"/>
            <a:ext cx="1786235" cy="166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Libre Baskerville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📥</a:t>
            </a:r>
            <a:r>
              <a:rPr b="0" i="0" lang="en-US" sz="100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CSV Import</a:t>
            </a:r>
            <a:endParaRPr b="0" i="0" sz="1000" u="none" cap="none" strike="noStrike"/>
          </a:p>
        </p:txBody>
      </p:sp>
      <p:sp>
        <p:nvSpPr>
          <p:cNvPr id="147" name="Google Shape;147;p17"/>
          <p:cNvSpPr/>
          <p:nvPr/>
        </p:nvSpPr>
        <p:spPr>
          <a:xfrm>
            <a:off x="3360465" y="4151933"/>
            <a:ext cx="2880196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00"/>
              <a:buFont typeface="Open Sans"/>
              <a:buNone/>
            </a:pPr>
            <a:r>
              <a:rPr b="0" i="0" lang="en-US" sz="8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Upload your full inventory in one go.</a:t>
            </a:r>
            <a:endParaRPr b="0" i="0" sz="800" u="none" cap="none" strike="noStrike"/>
          </a:p>
        </p:txBody>
      </p:sp>
      <p:sp>
        <p:nvSpPr>
          <p:cNvPr id="148" name="Google Shape;148;p17"/>
          <p:cNvSpPr/>
          <p:nvPr/>
        </p:nvSpPr>
        <p:spPr>
          <a:xfrm>
            <a:off x="5983709" y="3817516"/>
            <a:ext cx="2664098" cy="603796"/>
          </a:xfrm>
          <a:prstGeom prst="roundRect">
            <a:avLst>
              <a:gd fmla="val 2641" name="adj"/>
            </a:avLst>
          </a:prstGeom>
          <a:solidFill>
            <a:srgbClr val="FBFAFF"/>
          </a:solidFill>
          <a:ln cap="flat" cmpd="sng" w="1427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6104260" y="3938067"/>
            <a:ext cx="1786235" cy="166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Libre Baskerville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🎙️</a:t>
            </a:r>
            <a:r>
              <a:rPr b="0" i="0" lang="en-US" sz="100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Voice Updates</a:t>
            </a:r>
            <a:endParaRPr b="0" i="0" sz="1000" u="none" cap="none" strike="noStrike"/>
          </a:p>
        </p:txBody>
      </p:sp>
      <p:sp>
        <p:nvSpPr>
          <p:cNvPr id="150" name="Google Shape;150;p17"/>
          <p:cNvSpPr/>
          <p:nvPr/>
        </p:nvSpPr>
        <p:spPr>
          <a:xfrm>
            <a:off x="6104260" y="4151933"/>
            <a:ext cx="2880196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00"/>
              <a:buFont typeface="Open Sans"/>
              <a:buNone/>
            </a:pPr>
            <a:r>
              <a:rPr b="0" i="0" lang="en-US" sz="8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Say "Add 10 SG cricket balls" and it's done.</a:t>
            </a:r>
            <a:endParaRPr b="0" i="0" sz="80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6" name="Google Shape;15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/>
          <p:nvPr/>
        </p:nvSpPr>
        <p:spPr>
          <a:xfrm>
            <a:off x="3925119" y="482575"/>
            <a:ext cx="4722763" cy="841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2650"/>
              <a:buFont typeface="Libre Baskerville"/>
              <a:buNone/>
            </a:pPr>
            <a:r>
              <a:rPr b="0" i="0" lang="en-US" sz="2650" u="none" cap="none" strike="noStrike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Every Confirmed Order Appears at the Counter.</a:t>
            </a:r>
            <a:endParaRPr b="0" i="0" sz="2650" u="none" cap="none" strike="noStrike"/>
          </a:p>
        </p:txBody>
      </p:sp>
      <p:sp>
        <p:nvSpPr>
          <p:cNvPr id="158" name="Google Shape;158;p18"/>
          <p:cNvSpPr/>
          <p:nvPr/>
        </p:nvSpPr>
        <p:spPr>
          <a:xfrm>
            <a:off x="3925119" y="1516261"/>
            <a:ext cx="2297385" cy="1718444"/>
          </a:xfrm>
          <a:prstGeom prst="roundRect">
            <a:avLst>
              <a:gd fmla="val 1176" name="adj"/>
            </a:avLst>
          </a:prstGeom>
          <a:solidFill>
            <a:srgbClr val="EAE8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9" name="Google Shape;15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59734" y="1650876"/>
            <a:ext cx="403994" cy="4039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0" name="Google Shape;16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70834" y="1761902"/>
            <a:ext cx="181794" cy="181794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/>
          <p:nvPr/>
        </p:nvSpPr>
        <p:spPr>
          <a:xfrm>
            <a:off x="4059734" y="2182788"/>
            <a:ext cx="2140669" cy="210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300"/>
              <a:buFont typeface="Libre Baskerville"/>
              <a:buNone/>
            </a:pPr>
            <a:r>
              <a:rPr b="0" i="0" lang="en-US" sz="130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Live Order Cards</a:t>
            </a:r>
            <a:endParaRPr b="0" i="0" sz="1300" u="none" cap="none" strike="noStrike"/>
          </a:p>
        </p:txBody>
      </p:sp>
      <p:sp>
        <p:nvSpPr>
          <p:cNvPr id="162" name="Google Shape;162;p18"/>
          <p:cNvSpPr/>
          <p:nvPr/>
        </p:nvSpPr>
        <p:spPr>
          <a:xfrm>
            <a:off x="4059734" y="2469877"/>
            <a:ext cx="2028155" cy="630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050"/>
              <a:buFont typeface="Open Sans"/>
              <a:buNone/>
            </a:pPr>
            <a:r>
              <a:rPr b="0" i="0" lang="en-US" sz="105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New pickup orders appear instantly with a notification sound.</a:t>
            </a:r>
            <a:endParaRPr b="0" i="0" sz="1050" u="none" cap="none" strike="noStrike"/>
          </a:p>
        </p:txBody>
      </p:sp>
      <p:sp>
        <p:nvSpPr>
          <p:cNvPr id="163" name="Google Shape;163;p18"/>
          <p:cNvSpPr/>
          <p:nvPr/>
        </p:nvSpPr>
        <p:spPr>
          <a:xfrm>
            <a:off x="6350422" y="1516261"/>
            <a:ext cx="2297460" cy="1718444"/>
          </a:xfrm>
          <a:prstGeom prst="roundRect">
            <a:avLst>
              <a:gd fmla="val 1176" name="adj"/>
            </a:avLst>
          </a:prstGeom>
          <a:solidFill>
            <a:srgbClr val="EAE8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4" name="Google Shape;16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85037" y="1650876"/>
            <a:ext cx="403994" cy="4039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5" name="Google Shape;165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96137" y="1761902"/>
            <a:ext cx="181794" cy="181794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/>
          <p:nvPr/>
        </p:nvSpPr>
        <p:spPr>
          <a:xfrm>
            <a:off x="6485037" y="2182788"/>
            <a:ext cx="2140669" cy="210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300"/>
              <a:buFont typeface="Libre Baskerville"/>
              <a:buNone/>
            </a:pPr>
            <a:r>
              <a:rPr b="0" i="0" lang="en-US" sz="130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Low-Stock Alerts</a:t>
            </a:r>
            <a:endParaRPr b="0" i="0" sz="1300" u="none" cap="none" strike="noStrike"/>
          </a:p>
        </p:txBody>
      </p:sp>
      <p:sp>
        <p:nvSpPr>
          <p:cNvPr id="167" name="Google Shape;167;p18"/>
          <p:cNvSpPr/>
          <p:nvPr/>
        </p:nvSpPr>
        <p:spPr>
          <a:xfrm>
            <a:off x="6485037" y="2469877"/>
            <a:ext cx="2028230" cy="420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050"/>
              <a:buFont typeface="Open Sans"/>
              <a:buNone/>
            </a:pPr>
            <a:r>
              <a:rPr b="0" i="0" lang="en-US" sz="105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Know what needs reordering before you run out.</a:t>
            </a:r>
            <a:endParaRPr b="0" i="0" sz="1050" u="none" cap="none" strike="noStrike"/>
          </a:p>
        </p:txBody>
      </p:sp>
      <p:sp>
        <p:nvSpPr>
          <p:cNvPr id="168" name="Google Shape;168;p18"/>
          <p:cNvSpPr/>
          <p:nvPr/>
        </p:nvSpPr>
        <p:spPr>
          <a:xfrm>
            <a:off x="3925119" y="3362623"/>
            <a:ext cx="4722763" cy="1298302"/>
          </a:xfrm>
          <a:prstGeom prst="roundRect">
            <a:avLst>
              <a:gd fmla="val 1556" name="adj"/>
            </a:avLst>
          </a:prstGeom>
          <a:solidFill>
            <a:srgbClr val="EAE8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9" name="Google Shape;169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059734" y="3497238"/>
            <a:ext cx="403994" cy="4039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0" name="Google Shape;170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170834" y="3608263"/>
            <a:ext cx="181794" cy="181794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/>
          <p:nvPr/>
        </p:nvSpPr>
        <p:spPr>
          <a:xfrm>
            <a:off x="4059734" y="4029149"/>
            <a:ext cx="2140669" cy="210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300"/>
              <a:buFont typeface="Libre Baskerville"/>
              <a:buNone/>
            </a:pPr>
            <a:r>
              <a:rPr b="0" i="0" lang="en-US" sz="130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Order Actions</a:t>
            </a:r>
            <a:endParaRPr b="0" i="0" sz="1300" u="none" cap="none" strike="noStrike"/>
          </a:p>
        </p:txBody>
      </p:sp>
      <p:sp>
        <p:nvSpPr>
          <p:cNvPr id="172" name="Google Shape;172;p18"/>
          <p:cNvSpPr/>
          <p:nvPr/>
        </p:nvSpPr>
        <p:spPr>
          <a:xfrm>
            <a:off x="4059734" y="4316239"/>
            <a:ext cx="4910733" cy="210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050"/>
              <a:buFont typeface="Open Sans"/>
              <a:buNone/>
            </a:pPr>
            <a:r>
              <a:rPr b="0" i="0" lang="en-US" sz="105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Mark orders as Packed, Completed, or Cancelled with one tap.</a:t>
            </a:r>
            <a:endParaRPr b="0" i="0" sz="105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"/>
          <p:cNvSpPr/>
          <p:nvPr/>
        </p:nvSpPr>
        <p:spPr>
          <a:xfrm>
            <a:off x="286792" y="235595"/>
            <a:ext cx="4734744" cy="256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1600"/>
              <a:buFont typeface="Libre Baskerville"/>
              <a:buNone/>
            </a:pPr>
            <a:r>
              <a:rPr b="0" i="0" lang="en-US" sz="1600" u="none" cap="none" strike="noStrike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From Chat to Counter Order in Seconds.</a:t>
            </a:r>
            <a:endParaRPr b="0" i="0" sz="1600" u="none" cap="none" strike="noStrike"/>
          </a:p>
        </p:txBody>
      </p:sp>
      <p:sp>
        <p:nvSpPr>
          <p:cNvPr id="179" name="Google Shape;179;p19"/>
          <p:cNvSpPr/>
          <p:nvPr/>
        </p:nvSpPr>
        <p:spPr>
          <a:xfrm>
            <a:off x="286792" y="586383"/>
            <a:ext cx="8857208" cy="1034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600"/>
              <a:buFont typeface="Open Sans"/>
              <a:buNone/>
            </a:pPr>
            <a:r>
              <a:rPr b="0" i="0" lang="en-US" sz="6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The complete pickup flow — zero manual steps for your staff.</a:t>
            </a:r>
            <a:endParaRPr b="0" i="0" sz="600" u="none" cap="none" strike="noStrike"/>
          </a:p>
        </p:txBody>
      </p:sp>
      <p:pic>
        <p:nvPicPr>
          <p:cNvPr descr="preencoded.png" id="180" name="Google Shape;18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6792" y="743099"/>
            <a:ext cx="8570416" cy="3856658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9"/>
          <p:cNvSpPr/>
          <p:nvPr/>
        </p:nvSpPr>
        <p:spPr>
          <a:xfrm>
            <a:off x="1577785" y="826536"/>
            <a:ext cx="1499811" cy="463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450"/>
              <a:buFont typeface="Libre Baskerville"/>
              <a:buNone/>
            </a:pPr>
            <a:r>
              <a:rPr b="0" i="0" lang="en-US" sz="145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Customer Message</a:t>
            </a:r>
            <a:endParaRPr b="0" i="0" sz="1450" u="none" cap="none" strike="noStrike"/>
          </a:p>
        </p:txBody>
      </p:sp>
      <p:sp>
        <p:nvSpPr>
          <p:cNvPr id="182" name="Google Shape;182;p19"/>
          <p:cNvSpPr/>
          <p:nvPr/>
        </p:nvSpPr>
        <p:spPr>
          <a:xfrm>
            <a:off x="1577785" y="1356002"/>
            <a:ext cx="1499811" cy="292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150"/>
              <a:buFont typeface="Open Sans"/>
              <a:buNone/>
            </a:pPr>
            <a:r>
              <a:rPr b="0" i="0" lang="en-US" sz="115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Customer asks via WhatsApp</a:t>
            </a:r>
            <a:endParaRPr b="0" i="0" sz="1150" u="none" cap="none" strike="noStrike"/>
          </a:p>
        </p:txBody>
      </p:sp>
      <p:pic>
        <p:nvPicPr>
          <p:cNvPr descr="preencoded.png" id="183" name="Google Shape;18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65709" y="1953970"/>
            <a:ext cx="332204" cy="332204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/>
          <p:nvPr/>
        </p:nvSpPr>
        <p:spPr>
          <a:xfrm>
            <a:off x="2832515" y="3834914"/>
            <a:ext cx="1736652" cy="231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450"/>
              <a:buFont typeface="Libre Baskerville"/>
              <a:buNone/>
            </a:pPr>
            <a:r>
              <a:rPr b="0" i="0" lang="en-US" sz="145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AI Price Check</a:t>
            </a:r>
            <a:endParaRPr b="0" i="0" sz="1450" u="none" cap="none" strike="noStrike"/>
          </a:p>
        </p:txBody>
      </p:sp>
      <p:sp>
        <p:nvSpPr>
          <p:cNvPr id="185" name="Google Shape;185;p19"/>
          <p:cNvSpPr/>
          <p:nvPr/>
        </p:nvSpPr>
        <p:spPr>
          <a:xfrm>
            <a:off x="3061115" y="4132611"/>
            <a:ext cx="1508052" cy="292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150"/>
              <a:buFont typeface="Open Sans"/>
              <a:buNone/>
            </a:pPr>
            <a:r>
              <a:rPr b="0" i="0" lang="en-US" sz="115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AI checks catalog and replies price</a:t>
            </a:r>
            <a:endParaRPr b="0" i="0" sz="1150" u="none" cap="none" strike="noStrike"/>
          </a:p>
        </p:txBody>
      </p:sp>
      <p:pic>
        <p:nvPicPr>
          <p:cNvPr descr="preencoded.png" id="186" name="Google Shape;18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49039" y="3165356"/>
            <a:ext cx="332204" cy="332204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/>
          <p:nvPr/>
        </p:nvSpPr>
        <p:spPr>
          <a:xfrm>
            <a:off x="4527964" y="797694"/>
            <a:ext cx="1499811" cy="463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450"/>
              <a:buFont typeface="Libre Baskerville"/>
              <a:buNone/>
            </a:pPr>
            <a:r>
              <a:rPr b="0" i="0" lang="en-US" sz="145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Quantity Confirm</a:t>
            </a:r>
            <a:endParaRPr b="0" i="0" sz="1450" u="none" cap="none" strike="noStrike"/>
          </a:p>
        </p:txBody>
      </p:sp>
      <p:sp>
        <p:nvSpPr>
          <p:cNvPr id="188" name="Google Shape;188;p19"/>
          <p:cNvSpPr/>
          <p:nvPr/>
        </p:nvSpPr>
        <p:spPr>
          <a:xfrm>
            <a:off x="4527964" y="1327160"/>
            <a:ext cx="1499811" cy="292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150"/>
              <a:buFont typeface="Open Sans"/>
              <a:buNone/>
            </a:pPr>
            <a:r>
              <a:rPr b="0" i="0" lang="en-US" sz="115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Customer confirms quantity</a:t>
            </a:r>
            <a:endParaRPr b="0" i="0" sz="1150" u="none" cap="none" strike="noStrike"/>
          </a:p>
        </p:txBody>
      </p:sp>
      <p:pic>
        <p:nvPicPr>
          <p:cNvPr descr="preencoded.png" id="189" name="Google Shape;18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40609" y="1921007"/>
            <a:ext cx="332204" cy="332204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9"/>
          <p:cNvSpPr/>
          <p:nvPr/>
        </p:nvSpPr>
        <p:spPr>
          <a:xfrm>
            <a:off x="6011294" y="3645893"/>
            <a:ext cx="1499811" cy="463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450"/>
              <a:buFont typeface="Libre Baskerville"/>
              <a:buNone/>
            </a:pPr>
            <a:r>
              <a:rPr b="0" i="0" lang="en-US" sz="145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Pack Notification</a:t>
            </a:r>
            <a:endParaRPr b="0" i="0" sz="1450" u="none" cap="none" strike="noStrike"/>
          </a:p>
        </p:txBody>
      </p:sp>
      <p:sp>
        <p:nvSpPr>
          <p:cNvPr id="191" name="Google Shape;191;p19"/>
          <p:cNvSpPr/>
          <p:nvPr/>
        </p:nvSpPr>
        <p:spPr>
          <a:xfrm>
            <a:off x="6011294" y="4175359"/>
            <a:ext cx="1499811" cy="438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150"/>
              <a:buFont typeface="Open Sans"/>
              <a:buNone/>
            </a:pPr>
            <a:r>
              <a:rPr b="0" i="0" lang="en-US" sz="115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Dashboard shows PACK THIS ITEM amount</a:t>
            </a:r>
            <a:endParaRPr b="0" i="0" sz="1150" u="none" cap="none" strike="noStrike"/>
          </a:p>
        </p:txBody>
      </p:sp>
      <p:pic>
        <p:nvPicPr>
          <p:cNvPr descr="preencoded.png" id="192" name="Google Shape;192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99218" y="3165356"/>
            <a:ext cx="332204" cy="332204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9"/>
          <p:cNvSpPr/>
          <p:nvPr/>
        </p:nvSpPr>
        <p:spPr>
          <a:xfrm>
            <a:off x="286792" y="4653037"/>
            <a:ext cx="8570416" cy="254794"/>
          </a:xfrm>
          <a:prstGeom prst="roundRect">
            <a:avLst>
              <a:gd fmla="val 4825" name="adj"/>
            </a:avLst>
          </a:prstGeom>
          <a:solidFill>
            <a:srgbClr val="B6FC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4" name="Google Shape;194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8722" y="4764658"/>
            <a:ext cx="102394" cy="8193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/>
          <p:nvPr/>
        </p:nvSpPr>
        <p:spPr>
          <a:xfrm>
            <a:off x="553045" y="4720828"/>
            <a:ext cx="8590955" cy="1034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Open Sans"/>
              <a:buNone/>
            </a:pPr>
            <a:r>
              <a:rPr b="1" i="0" lang="en-US" sz="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Example alert on dashboard:</a:t>
            </a:r>
            <a:r>
              <a:rPr b="0" i="0" lang="en-US" sz="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"New Order: 2× Nivia Tennis Ball — Collect ₹240. Customer: Rahul S."</a:t>
            </a:r>
            <a:endParaRPr b="0" i="0" sz="60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1" name="Google Shape;20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8022" y="244227"/>
            <a:ext cx="4237509" cy="42375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2" name="Google Shape;20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8025" y="244225"/>
            <a:ext cx="4237499" cy="423749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/>
          <p:nvPr/>
        </p:nvSpPr>
        <p:spPr>
          <a:xfrm>
            <a:off x="4663232" y="2133674"/>
            <a:ext cx="621432" cy="110430"/>
          </a:xfrm>
          <a:prstGeom prst="roundRect">
            <a:avLst>
              <a:gd fmla="val 7703" name="adj"/>
            </a:avLst>
          </a:prstGeom>
          <a:solidFill>
            <a:srgbClr val="D7D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0"/>
          <p:cNvSpPr/>
          <p:nvPr/>
        </p:nvSpPr>
        <p:spPr>
          <a:xfrm>
            <a:off x="4705722" y="2154882"/>
            <a:ext cx="993651" cy="680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400"/>
              <a:buFont typeface="Open Sans"/>
              <a:buNone/>
            </a:pPr>
            <a:r>
              <a:rPr b="0" i="0" lang="en-US" sz="4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STOCK PROTECTION</a:t>
            </a:r>
            <a:endParaRPr b="0" i="0" sz="400" u="none" cap="none" strike="noStrike"/>
          </a:p>
        </p:txBody>
      </p:sp>
      <p:sp>
        <p:nvSpPr>
          <p:cNvPr id="205" name="Google Shape;205;p20"/>
          <p:cNvSpPr/>
          <p:nvPr/>
        </p:nvSpPr>
        <p:spPr>
          <a:xfrm>
            <a:off x="4663232" y="2258244"/>
            <a:ext cx="31860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1350"/>
              <a:buFont typeface="Libre Baskerville"/>
              <a:buNone/>
            </a:pPr>
            <a:r>
              <a:rPr b="0" i="0" lang="en-US" sz="1350" u="none" cap="none" strike="noStrike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No Accidental Double-Selling.</a:t>
            </a:r>
            <a:endParaRPr b="0" i="0" sz="1350" u="none" cap="none" strike="noStrike"/>
          </a:p>
        </p:txBody>
      </p:sp>
      <p:sp>
        <p:nvSpPr>
          <p:cNvPr id="206" name="Google Shape;206;p20"/>
          <p:cNvSpPr/>
          <p:nvPr/>
        </p:nvSpPr>
        <p:spPr>
          <a:xfrm>
            <a:off x="4663232" y="2515121"/>
            <a:ext cx="4480768" cy="85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550"/>
              <a:buFont typeface="Open Sans"/>
              <a:buNone/>
            </a:pPr>
            <a:r>
              <a:rPr b="0" i="0" lang="en-US" sz="55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Smart Clerk's reservation system ensures your stock count is always accurate — even during peak hours.</a:t>
            </a:r>
            <a:endParaRPr b="0" i="0" sz="550" u="none" cap="none" strike="noStrike"/>
          </a:p>
        </p:txBody>
      </p:sp>
      <p:sp>
        <p:nvSpPr>
          <p:cNvPr id="207" name="Google Shape;207;p20"/>
          <p:cNvSpPr/>
          <p:nvPr/>
        </p:nvSpPr>
        <p:spPr>
          <a:xfrm>
            <a:off x="248022" y="4561359"/>
            <a:ext cx="2858988" cy="377726"/>
          </a:xfrm>
          <a:prstGeom prst="roundRect">
            <a:avLst>
              <a:gd fmla="val 12104" name="adj"/>
            </a:avLst>
          </a:prstGeom>
          <a:solidFill>
            <a:srgbClr val="FBFAFF"/>
          </a:solidFill>
          <a:ln cap="flat" cmpd="sng" w="952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8" name="Google Shape;20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8497" y="4561359"/>
            <a:ext cx="38100" cy="377726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0"/>
          <p:cNvSpPr/>
          <p:nvPr/>
        </p:nvSpPr>
        <p:spPr>
          <a:xfrm>
            <a:off x="356964" y="4641726"/>
            <a:ext cx="1826940" cy="110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650"/>
              <a:buFont typeface="Libre Baskerville"/>
              <a:buNone/>
            </a:pPr>
            <a:r>
              <a:rPr b="0" i="0" lang="en-US" sz="65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Confident Confirmation Only</a:t>
            </a:r>
            <a:endParaRPr b="0" i="0" sz="650" u="none" cap="none" strike="noStrike"/>
          </a:p>
        </p:txBody>
      </p:sp>
      <p:sp>
        <p:nvSpPr>
          <p:cNvPr id="210" name="Google Shape;210;p20"/>
          <p:cNvSpPr/>
          <p:nvPr/>
        </p:nvSpPr>
        <p:spPr>
          <a:xfrm>
            <a:off x="356964" y="4773662"/>
            <a:ext cx="3126879" cy="85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550"/>
              <a:buFont typeface="Open Sans"/>
              <a:buNone/>
            </a:pPr>
            <a:r>
              <a:rPr b="0" i="0" lang="en-US" sz="55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Stock deducted only when customer clearly confirms quantity.</a:t>
            </a:r>
            <a:endParaRPr b="0" i="0" sz="550" u="none" cap="none" strike="noStrike"/>
          </a:p>
        </p:txBody>
      </p:sp>
      <p:sp>
        <p:nvSpPr>
          <p:cNvPr id="211" name="Google Shape;211;p20"/>
          <p:cNvSpPr/>
          <p:nvPr/>
        </p:nvSpPr>
        <p:spPr>
          <a:xfrm>
            <a:off x="3142431" y="4561359"/>
            <a:ext cx="2859063" cy="377726"/>
          </a:xfrm>
          <a:prstGeom prst="roundRect">
            <a:avLst>
              <a:gd fmla="val 12104" name="adj"/>
            </a:avLst>
          </a:prstGeom>
          <a:solidFill>
            <a:srgbClr val="FBFAFF"/>
          </a:solidFill>
          <a:ln cap="flat" cmpd="sng" w="952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2" name="Google Shape;21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32906" y="4561359"/>
            <a:ext cx="38100" cy="377726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/>
          <p:cNvSpPr/>
          <p:nvPr/>
        </p:nvSpPr>
        <p:spPr>
          <a:xfrm>
            <a:off x="3251374" y="4641726"/>
            <a:ext cx="1343174" cy="110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650"/>
              <a:buFont typeface="Libre Baskerville"/>
              <a:buNone/>
            </a:pPr>
            <a:r>
              <a:rPr b="0" i="0" lang="en-US" sz="65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Per-SKU Locking</a:t>
            </a:r>
            <a:endParaRPr b="0" i="0" sz="650" u="none" cap="none" strike="noStrike"/>
          </a:p>
        </p:txBody>
      </p:sp>
      <p:sp>
        <p:nvSpPr>
          <p:cNvPr id="214" name="Google Shape;214;p20"/>
          <p:cNvSpPr/>
          <p:nvPr/>
        </p:nvSpPr>
        <p:spPr>
          <a:xfrm>
            <a:off x="3251374" y="4773662"/>
            <a:ext cx="3126953" cy="85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550"/>
              <a:buFont typeface="Open Sans"/>
              <a:buNone/>
            </a:pPr>
            <a:r>
              <a:rPr b="0" i="0" lang="en-US" sz="55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Last item can't be reserved by two customers at the same time.</a:t>
            </a:r>
            <a:endParaRPr b="0" i="0" sz="550" u="none" cap="none" strike="noStrike"/>
          </a:p>
        </p:txBody>
      </p:sp>
      <p:sp>
        <p:nvSpPr>
          <p:cNvPr id="215" name="Google Shape;215;p20"/>
          <p:cNvSpPr/>
          <p:nvPr/>
        </p:nvSpPr>
        <p:spPr>
          <a:xfrm>
            <a:off x="6036915" y="4561359"/>
            <a:ext cx="2859063" cy="377726"/>
          </a:xfrm>
          <a:prstGeom prst="roundRect">
            <a:avLst>
              <a:gd fmla="val 12104" name="adj"/>
            </a:avLst>
          </a:prstGeom>
          <a:solidFill>
            <a:srgbClr val="FBFAFF"/>
          </a:solidFill>
          <a:ln cap="flat" cmpd="sng" w="9525">
            <a:solidFill>
              <a:srgbClr val="D0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6" name="Google Shape;21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27390" y="4561359"/>
            <a:ext cx="38100" cy="377726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0"/>
          <p:cNvSpPr/>
          <p:nvPr/>
        </p:nvSpPr>
        <p:spPr>
          <a:xfrm>
            <a:off x="6145857" y="4641726"/>
            <a:ext cx="1343174" cy="110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650"/>
              <a:buFont typeface="Libre Baskerville"/>
              <a:buNone/>
            </a:pPr>
            <a:r>
              <a:rPr b="0" i="0" lang="en-US" sz="65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Smart Clarification</a:t>
            </a:r>
            <a:endParaRPr b="0" i="0" sz="650" u="none" cap="none" strike="noStrike"/>
          </a:p>
        </p:txBody>
      </p:sp>
      <p:sp>
        <p:nvSpPr>
          <p:cNvPr id="218" name="Google Shape;218;p20"/>
          <p:cNvSpPr/>
          <p:nvPr/>
        </p:nvSpPr>
        <p:spPr>
          <a:xfrm>
            <a:off x="6145857" y="4773662"/>
            <a:ext cx="2998143" cy="85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550"/>
              <a:buFont typeface="Open Sans"/>
              <a:buNone/>
            </a:pPr>
            <a:r>
              <a:rPr b="0" i="0" lang="en-US" sz="55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Vague messages trigger a follow-up question — never a deduction.</a:t>
            </a:r>
            <a:endParaRPr b="0" i="0" sz="55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1"/>
          <p:cNvSpPr/>
          <p:nvPr/>
        </p:nvSpPr>
        <p:spPr>
          <a:xfrm>
            <a:off x="496119" y="546050"/>
            <a:ext cx="5174010" cy="35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2200"/>
              <a:buFont typeface="Libre Baskerville"/>
              <a:buNone/>
            </a:pPr>
            <a:r>
              <a:rPr b="0" i="0" lang="en-US" sz="2200" u="none" cap="none" strike="noStrike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The Owner Is Always in Control.</a:t>
            </a:r>
            <a:endParaRPr b="0" i="0" sz="2200" u="none" cap="none" strike="noStrike"/>
          </a:p>
        </p:txBody>
      </p:sp>
      <p:pic>
        <p:nvPicPr>
          <p:cNvPr descr="preencoded.png" id="225" name="Google Shape;22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637854"/>
            <a:ext cx="4161383" cy="2358107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1"/>
          <p:cNvSpPr/>
          <p:nvPr/>
        </p:nvSpPr>
        <p:spPr>
          <a:xfrm>
            <a:off x="5979319" y="1118071"/>
            <a:ext cx="2673251" cy="3265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50"/>
              <a:buFont typeface="Open Sans"/>
              <a:buNone/>
            </a:pPr>
            <a:r>
              <a:rPr b="0" i="0" lang="en-US" sz="85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Smart Clerk is AI-assisted, not AI-autonomous. Every decision stays with the owner.</a:t>
            </a:r>
            <a:endParaRPr b="0" i="0" sz="850" u="none" cap="none" strike="noStrike"/>
          </a:p>
        </p:txBody>
      </p:sp>
      <p:sp>
        <p:nvSpPr>
          <p:cNvPr id="227" name="Google Shape;227;p21"/>
          <p:cNvSpPr/>
          <p:nvPr/>
        </p:nvSpPr>
        <p:spPr>
          <a:xfrm>
            <a:off x="5979319" y="1546622"/>
            <a:ext cx="255166" cy="255166"/>
          </a:xfrm>
          <a:prstGeom prst="roundRect">
            <a:avLst>
              <a:gd fmla="val 6667" name="adj"/>
            </a:avLst>
          </a:prstGeom>
          <a:solidFill>
            <a:srgbClr val="EAE8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1"/>
          <p:cNvSpPr/>
          <p:nvPr/>
        </p:nvSpPr>
        <p:spPr>
          <a:xfrm>
            <a:off x="6325195" y="1585540"/>
            <a:ext cx="2069306" cy="17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100"/>
              <a:buFont typeface="Libre Baskerville"/>
              <a:buNone/>
            </a:pPr>
            <a:r>
              <a:rPr b="0" i="0" lang="en-US" sz="110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Full Conversation Log</a:t>
            </a:r>
            <a:endParaRPr b="0" i="0" sz="1100" u="none" cap="none" strike="noStrike"/>
          </a:p>
        </p:txBody>
      </p:sp>
      <p:sp>
        <p:nvSpPr>
          <p:cNvPr id="229" name="Google Shape;229;p21"/>
          <p:cNvSpPr/>
          <p:nvPr/>
        </p:nvSpPr>
        <p:spPr>
          <a:xfrm>
            <a:off x="6325195" y="1853431"/>
            <a:ext cx="2327374" cy="3265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50"/>
              <a:buFont typeface="Open Sans"/>
              <a:buNone/>
            </a:pPr>
            <a:r>
              <a:rPr b="0" i="0" lang="en-US" sz="85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Every AI reply is visible and reviewable in your dashboard.</a:t>
            </a:r>
            <a:endParaRPr b="0" i="0" sz="850" u="none" cap="none" strike="noStrike"/>
          </a:p>
        </p:txBody>
      </p:sp>
      <p:sp>
        <p:nvSpPr>
          <p:cNvPr id="230" name="Google Shape;230;p21"/>
          <p:cNvSpPr/>
          <p:nvPr/>
        </p:nvSpPr>
        <p:spPr>
          <a:xfrm>
            <a:off x="5979319" y="2361381"/>
            <a:ext cx="255166" cy="255166"/>
          </a:xfrm>
          <a:prstGeom prst="roundRect">
            <a:avLst>
              <a:gd fmla="val 6667" name="adj"/>
            </a:avLst>
          </a:prstGeom>
          <a:solidFill>
            <a:srgbClr val="EAE8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1"/>
          <p:cNvSpPr/>
          <p:nvPr/>
        </p:nvSpPr>
        <p:spPr>
          <a:xfrm>
            <a:off x="6325195" y="2400300"/>
            <a:ext cx="1874862" cy="17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100"/>
              <a:buFont typeface="Libre Baskerville"/>
              <a:buNone/>
            </a:pPr>
            <a:r>
              <a:rPr b="0" i="0" lang="en-US" sz="110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Take Over Chat</a:t>
            </a:r>
            <a:endParaRPr b="0" i="0" sz="1100" u="none" cap="none" strike="noStrike"/>
          </a:p>
        </p:txBody>
      </p:sp>
      <p:sp>
        <p:nvSpPr>
          <p:cNvPr id="232" name="Google Shape;232;p21"/>
          <p:cNvSpPr/>
          <p:nvPr/>
        </p:nvSpPr>
        <p:spPr>
          <a:xfrm>
            <a:off x="6325195" y="2668191"/>
            <a:ext cx="2327374" cy="3265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50"/>
              <a:buFont typeface="Open Sans"/>
              <a:buNone/>
            </a:pPr>
            <a:r>
              <a:rPr b="0" i="0" lang="en-US" sz="85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Disable AI for any individual customer and reply manually.</a:t>
            </a:r>
            <a:endParaRPr b="0" i="0" sz="850" u="none" cap="none" strike="noStrike"/>
          </a:p>
        </p:txBody>
      </p:sp>
      <p:sp>
        <p:nvSpPr>
          <p:cNvPr id="233" name="Google Shape;233;p21"/>
          <p:cNvSpPr/>
          <p:nvPr/>
        </p:nvSpPr>
        <p:spPr>
          <a:xfrm>
            <a:off x="5979319" y="3176141"/>
            <a:ext cx="255166" cy="255166"/>
          </a:xfrm>
          <a:prstGeom prst="roundRect">
            <a:avLst>
              <a:gd fmla="val 6667" name="adj"/>
            </a:avLst>
          </a:prstGeom>
          <a:solidFill>
            <a:srgbClr val="EAE8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1"/>
          <p:cNvSpPr/>
          <p:nvPr/>
        </p:nvSpPr>
        <p:spPr>
          <a:xfrm>
            <a:off x="6325195" y="3215060"/>
            <a:ext cx="1874862" cy="17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100"/>
              <a:buFont typeface="Libre Baskerville"/>
              <a:buNone/>
            </a:pPr>
            <a:r>
              <a:rPr b="0" i="0" lang="en-US" sz="110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Global Pause</a:t>
            </a:r>
            <a:endParaRPr b="0" i="0" sz="1100" u="none" cap="none" strike="noStrike"/>
          </a:p>
        </p:txBody>
      </p:sp>
      <p:sp>
        <p:nvSpPr>
          <p:cNvPr id="235" name="Google Shape;235;p21"/>
          <p:cNvSpPr/>
          <p:nvPr/>
        </p:nvSpPr>
        <p:spPr>
          <a:xfrm>
            <a:off x="6325195" y="3482950"/>
            <a:ext cx="2327374" cy="3265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50"/>
              <a:buFont typeface="Open Sans"/>
              <a:buNone/>
            </a:pPr>
            <a:r>
              <a:rPr b="0" i="0" lang="en-US" sz="85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Pause the AI across all chats instantly — one tap.</a:t>
            </a:r>
            <a:endParaRPr b="0" i="0" sz="850" u="none" cap="none" strike="noStrike"/>
          </a:p>
        </p:txBody>
      </p:sp>
      <p:sp>
        <p:nvSpPr>
          <p:cNvPr id="236" name="Google Shape;236;p21"/>
          <p:cNvSpPr/>
          <p:nvPr/>
        </p:nvSpPr>
        <p:spPr>
          <a:xfrm>
            <a:off x="5979319" y="3911501"/>
            <a:ext cx="2673251" cy="583927"/>
          </a:xfrm>
          <a:prstGeom prst="roundRect">
            <a:avLst>
              <a:gd fmla="val 2913" name="adj"/>
            </a:avLst>
          </a:prstGeom>
          <a:solidFill>
            <a:srgbClr val="C3C2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7" name="Google Shape;23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2726" y="4077816"/>
            <a:ext cx="141759" cy="113407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1"/>
          <p:cNvSpPr/>
          <p:nvPr/>
        </p:nvSpPr>
        <p:spPr>
          <a:xfrm>
            <a:off x="6347892" y="4030563"/>
            <a:ext cx="2191271" cy="3265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Open Sans"/>
              <a:buNone/>
            </a:pPr>
            <a:r>
              <a:rPr b="0" i="0" lang="en-US" sz="85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Group chats and personal messages are automatically ignored.</a:t>
            </a:r>
            <a:endParaRPr b="0" i="0" sz="850" u="none" cap="none" strike="noStrik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2"/>
          <p:cNvSpPr/>
          <p:nvPr/>
        </p:nvSpPr>
        <p:spPr>
          <a:xfrm>
            <a:off x="496119" y="469850"/>
            <a:ext cx="6626349" cy="420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2650"/>
              <a:buFont typeface="Libre Baskerville"/>
              <a:buNone/>
            </a:pPr>
            <a:r>
              <a:rPr b="0" i="0" lang="en-US" sz="2650" u="none" cap="none" strike="noStrike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Simple Pricing for First Shop Pilots.</a:t>
            </a:r>
            <a:endParaRPr b="0" i="0" sz="2650" u="none" cap="none" strike="noStrike"/>
          </a:p>
        </p:txBody>
      </p:sp>
      <p:sp>
        <p:nvSpPr>
          <p:cNvPr id="245" name="Google Shape;245;p22"/>
          <p:cNvSpPr/>
          <p:nvPr/>
        </p:nvSpPr>
        <p:spPr>
          <a:xfrm>
            <a:off x="267519" y="1146572"/>
            <a:ext cx="8380363" cy="210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050"/>
              <a:buFont typeface="Open Sans"/>
              <a:buNone/>
            </a:pPr>
            <a:r>
              <a:rPr b="0" i="0" lang="en-US" sz="105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No hidden charges. No lock-in surprises. Everything you need to go live.</a:t>
            </a:r>
            <a:endParaRPr b="0" i="0" sz="1050" u="none" cap="none" strike="noStrike"/>
          </a:p>
        </p:txBody>
      </p:sp>
      <p:sp>
        <p:nvSpPr>
          <p:cNvPr id="246" name="Google Shape;246;p22"/>
          <p:cNvSpPr/>
          <p:nvPr/>
        </p:nvSpPr>
        <p:spPr>
          <a:xfrm>
            <a:off x="496119" y="1500560"/>
            <a:ext cx="8151763" cy="2475086"/>
          </a:xfrm>
          <a:prstGeom prst="roundRect">
            <a:avLst>
              <a:gd fmla="val 816" name="adj"/>
            </a:avLst>
          </a:prstGeom>
          <a:solidFill>
            <a:srgbClr val="EAE8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2"/>
          <p:cNvSpPr/>
          <p:nvPr/>
        </p:nvSpPr>
        <p:spPr>
          <a:xfrm>
            <a:off x="496119" y="1500560"/>
            <a:ext cx="4075881" cy="2475086"/>
          </a:xfrm>
          <a:prstGeom prst="roundRect">
            <a:avLst>
              <a:gd fmla="val 816" name="adj"/>
            </a:avLst>
          </a:prstGeom>
          <a:solidFill>
            <a:srgbClr val="EAE8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2"/>
          <p:cNvSpPr/>
          <p:nvPr/>
        </p:nvSpPr>
        <p:spPr>
          <a:xfrm>
            <a:off x="630734" y="1635175"/>
            <a:ext cx="2140669" cy="210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300"/>
              <a:buFont typeface="Libre Baskerville"/>
              <a:buNone/>
            </a:pPr>
            <a:r>
              <a:rPr b="0" i="0" lang="en-US" sz="130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Setup</a:t>
            </a:r>
            <a:endParaRPr b="0" i="0" sz="1300" u="none" cap="none" strike="noStrike"/>
          </a:p>
        </p:txBody>
      </p:sp>
      <p:sp>
        <p:nvSpPr>
          <p:cNvPr id="249" name="Google Shape;249;p22"/>
          <p:cNvSpPr/>
          <p:nvPr/>
        </p:nvSpPr>
        <p:spPr>
          <a:xfrm>
            <a:off x="630734" y="1922264"/>
            <a:ext cx="4263851" cy="580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3650"/>
              <a:buFont typeface="Libre Baskerville"/>
              <a:buNone/>
            </a:pPr>
            <a:r>
              <a:rPr b="0" i="0" lang="en-US" sz="365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₹6,999</a:t>
            </a:r>
            <a:endParaRPr b="0" i="0" sz="3650" u="none" cap="none" strike="noStrike"/>
          </a:p>
        </p:txBody>
      </p:sp>
      <p:sp>
        <p:nvSpPr>
          <p:cNvPr id="250" name="Google Shape;250;p22"/>
          <p:cNvSpPr/>
          <p:nvPr/>
        </p:nvSpPr>
        <p:spPr>
          <a:xfrm>
            <a:off x="630734" y="2579787"/>
            <a:ext cx="4263851" cy="210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050"/>
              <a:buFont typeface="Open Sans"/>
              <a:buNone/>
            </a:pPr>
            <a:r>
              <a:rPr b="0" i="0" lang="en-US" sz="105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One-time setup fee</a:t>
            </a:r>
            <a:endParaRPr b="0" i="0" sz="1050" u="none" cap="none" strike="noStrike"/>
          </a:p>
        </p:txBody>
      </p:sp>
      <p:sp>
        <p:nvSpPr>
          <p:cNvPr id="251" name="Google Shape;251;p22"/>
          <p:cNvSpPr/>
          <p:nvPr/>
        </p:nvSpPr>
        <p:spPr>
          <a:xfrm>
            <a:off x="630734" y="2866579"/>
            <a:ext cx="3806651" cy="9744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050"/>
              <a:buFont typeface="Open Sans"/>
              <a:buChar char="•"/>
            </a:pPr>
            <a:r>
              <a:rPr b="0" i="0" lang="en-US" sz="105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Catalog setup &amp; data import</a:t>
            </a:r>
            <a:endParaRPr b="0" i="0" sz="1050" u="none" cap="none" strike="noStrike"/>
          </a:p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050"/>
              <a:buFont typeface="Open Sans"/>
              <a:buChar char="•"/>
            </a:pPr>
            <a:r>
              <a:rPr b="0" i="0" lang="en-US" sz="105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Dashboard onboarding</a:t>
            </a:r>
            <a:endParaRPr b="0" i="0" sz="1050" u="none" cap="none" strike="noStrike"/>
          </a:p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050"/>
              <a:buFont typeface="Open Sans"/>
              <a:buChar char="•"/>
            </a:pPr>
            <a:r>
              <a:rPr b="0" i="0" lang="en-US" sz="105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WhatsApp demo flow</a:t>
            </a:r>
            <a:endParaRPr b="0" i="0" sz="1050" u="none" cap="none" strike="noStrike"/>
          </a:p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050"/>
              <a:buFont typeface="Open Sans"/>
              <a:buChar char="•"/>
            </a:pPr>
            <a:r>
              <a:rPr b="0" i="0" lang="en-US" sz="105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Pickup order system</a:t>
            </a:r>
            <a:endParaRPr b="0" i="0" sz="1050" u="none" cap="none" strike="noStrike"/>
          </a:p>
        </p:txBody>
      </p:sp>
      <p:sp>
        <p:nvSpPr>
          <p:cNvPr id="252" name="Google Shape;252;p22"/>
          <p:cNvSpPr/>
          <p:nvPr/>
        </p:nvSpPr>
        <p:spPr>
          <a:xfrm>
            <a:off x="4572000" y="1500560"/>
            <a:ext cx="4075881" cy="2475086"/>
          </a:xfrm>
          <a:prstGeom prst="rect">
            <a:avLst/>
          </a:prstGeom>
          <a:solidFill>
            <a:srgbClr val="EAE8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2"/>
          <p:cNvSpPr/>
          <p:nvPr/>
        </p:nvSpPr>
        <p:spPr>
          <a:xfrm>
            <a:off x="4572000" y="1500560"/>
            <a:ext cx="19050" cy="2475086"/>
          </a:xfrm>
          <a:prstGeom prst="roundRect">
            <a:avLst>
              <a:gd fmla="val 106046" name="adj"/>
            </a:avLst>
          </a:prstGeom>
          <a:solidFill>
            <a:srgbClr val="D0CE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2"/>
          <p:cNvSpPr/>
          <p:nvPr/>
        </p:nvSpPr>
        <p:spPr>
          <a:xfrm>
            <a:off x="4706615" y="1635175"/>
            <a:ext cx="2367409" cy="210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300"/>
              <a:buFont typeface="Libre Baskerville"/>
              <a:buNone/>
            </a:pPr>
            <a:r>
              <a:rPr b="0" i="0" lang="en-US" sz="130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Monthly Maintenance</a:t>
            </a:r>
            <a:endParaRPr b="0" i="0" sz="1300" u="none" cap="none" strike="noStrike"/>
          </a:p>
        </p:txBody>
      </p:sp>
      <p:sp>
        <p:nvSpPr>
          <p:cNvPr id="255" name="Google Shape;255;p22"/>
          <p:cNvSpPr/>
          <p:nvPr/>
        </p:nvSpPr>
        <p:spPr>
          <a:xfrm>
            <a:off x="4706615" y="1922264"/>
            <a:ext cx="4263851" cy="580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3650"/>
              <a:buFont typeface="Libre Baskerville"/>
              <a:buNone/>
            </a:pPr>
            <a:r>
              <a:rPr b="0" i="0" lang="en-US" sz="365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₹1,999</a:t>
            </a:r>
            <a:endParaRPr b="0" i="0" sz="3650" u="none" cap="none" strike="noStrike"/>
          </a:p>
        </p:txBody>
      </p:sp>
      <p:sp>
        <p:nvSpPr>
          <p:cNvPr id="256" name="Google Shape;256;p22"/>
          <p:cNvSpPr/>
          <p:nvPr/>
        </p:nvSpPr>
        <p:spPr>
          <a:xfrm>
            <a:off x="4706615" y="2579787"/>
            <a:ext cx="4263851" cy="210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050"/>
              <a:buFont typeface="Open Sans"/>
              <a:buNone/>
            </a:pPr>
            <a:r>
              <a:rPr b="0" i="0" lang="en-US" sz="105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Per month, after setup</a:t>
            </a:r>
            <a:endParaRPr b="0" i="0" sz="1050" u="none" cap="none" strike="noStrike"/>
          </a:p>
        </p:txBody>
      </p:sp>
      <p:sp>
        <p:nvSpPr>
          <p:cNvPr id="257" name="Google Shape;257;p22"/>
          <p:cNvSpPr/>
          <p:nvPr/>
        </p:nvSpPr>
        <p:spPr>
          <a:xfrm>
            <a:off x="4706615" y="2866579"/>
            <a:ext cx="3806651" cy="9744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050"/>
              <a:buFont typeface="Open Sans"/>
              <a:buChar char="•"/>
            </a:pPr>
            <a:r>
              <a:rPr b="0" i="0" lang="en-US" sz="105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AI monitoring &amp; prompt tuning</a:t>
            </a:r>
            <a:endParaRPr b="0" i="0" sz="1050" u="none" cap="none" strike="noStrike"/>
          </a:p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050"/>
              <a:buFont typeface="Open Sans"/>
              <a:buChar char="•"/>
            </a:pPr>
            <a:r>
              <a:rPr b="0" i="0" lang="en-US" sz="105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Bug fixes &amp; updates</a:t>
            </a:r>
            <a:endParaRPr b="0" i="0" sz="1050" u="none" cap="none" strike="noStrike"/>
          </a:p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050"/>
              <a:buFont typeface="Open Sans"/>
              <a:buChar char="•"/>
            </a:pPr>
            <a:r>
              <a:rPr b="0" i="0" lang="en-US" sz="105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Small workflow changes</a:t>
            </a:r>
            <a:endParaRPr b="0" i="0" sz="1050" u="none" cap="none" strike="noStrike"/>
          </a:p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050"/>
              <a:buFont typeface="Open Sans"/>
              <a:buChar char="•"/>
            </a:pPr>
            <a:r>
              <a:rPr b="0" i="0" lang="en-US" sz="105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Priority support</a:t>
            </a:r>
            <a:endParaRPr b="0" i="0" sz="1050" u="none" cap="none" strike="noStrike"/>
          </a:p>
        </p:txBody>
      </p:sp>
      <p:sp>
        <p:nvSpPr>
          <p:cNvPr id="258" name="Google Shape;258;p22"/>
          <p:cNvSpPr/>
          <p:nvPr/>
        </p:nvSpPr>
        <p:spPr>
          <a:xfrm>
            <a:off x="496119" y="4119563"/>
            <a:ext cx="8151763" cy="554013"/>
          </a:xfrm>
          <a:prstGeom prst="roundRect">
            <a:avLst>
              <a:gd fmla="val 3646" name="adj"/>
            </a:avLst>
          </a:prstGeom>
          <a:solidFill>
            <a:srgbClr val="B6FC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9" name="Google Shape;25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734" y="4327178"/>
            <a:ext cx="168325" cy="13461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2"/>
          <p:cNvSpPr/>
          <p:nvPr/>
        </p:nvSpPr>
        <p:spPr>
          <a:xfrm>
            <a:off x="933673" y="4281115"/>
            <a:ext cx="8036793" cy="210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Open Sans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Start with one store. See results in the first week. Scale when ready.</a:t>
            </a:r>
            <a:endParaRPr b="0" i="0" sz="10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